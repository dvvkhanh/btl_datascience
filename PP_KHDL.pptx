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3"/>
    <p:sldId id="257" r:id="rId4"/>
    <p:sldId id="280" r:id="rId5"/>
    <p:sldId id="282" r:id="rId6"/>
    <p:sldId id="285" r:id="rId7"/>
    <p:sldId id="287" r:id="rId8"/>
    <p:sldId id="265" r:id="rId9"/>
    <p:sldId id="266" r:id="rId10"/>
    <p:sldId id="267" r:id="rId11"/>
    <p:sldId id="268" r:id="rId12"/>
    <p:sldId id="269" r:id="rId13"/>
    <p:sldId id="270" r:id="rId14"/>
    <p:sldId id="271" r:id="rId15"/>
    <p:sldId id="272" r:id="rId16"/>
    <p:sldId id="273" r:id="rId17"/>
    <p:sldId id="274" r:id="rId18"/>
  </p:sldIdLst>
  <p:sldSz cx="18288000" cy="10287000"/>
  <p:notesSz cx="6858000" cy="9144000"/>
  <p:embeddedFontLst>
    <p:embeddedFont>
      <p:font typeface="Times New Roman Bold" panose="02020803070505020304"/>
      <p:bold r:id="rId23"/>
    </p:embeddedFont>
    <p:embeddedFont>
      <p:font typeface="Calibri" panose="020F0502020204030204" pitchFamily="34" charset="-122"/>
      <p:regular r:id="rId24"/>
    </p:embeddedFont>
    <p:embeddedFont>
      <p:font typeface="Cambria" panose="02040503050406030204" pitchFamily="34" charset="-122"/>
      <p:regular r:id="rId25"/>
    </p:embeddedFont>
    <p:embeddedFont>
      <p:font typeface="Paytone One"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28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081"/>
        <p:guide pos="289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2.png"/><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7.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image" Target="../media/image3.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8.png"/><Relationship Id="rId11" Type="http://schemas.openxmlformats.org/officeDocument/2006/relationships/slideLayout" Target="../slideLayouts/slideLayout7.xml"/><Relationship Id="rId10" Type="http://schemas.openxmlformats.org/officeDocument/2006/relationships/tags" Target="../tags/tag18.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9.png"/><Relationship Id="rId3" Type="http://schemas.openxmlformats.org/officeDocument/2006/relationships/image" Target="../media/image7.pn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92716"/>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9" name="Freeform 9"/>
          <p:cNvSpPr/>
          <p:nvPr/>
        </p:nvSpPr>
        <p:spPr>
          <a:xfrm>
            <a:off x="11911094" y="2284763"/>
            <a:ext cx="5687661" cy="7384260"/>
          </a:xfrm>
          <a:custGeom>
            <a:avLst/>
            <a:gdLst/>
            <a:ahLst/>
            <a:cxnLst/>
            <a:rect l="l" t="t" r="r" b="b"/>
            <a:pathLst>
              <a:path w="5687661" h="7384260">
                <a:moveTo>
                  <a:pt x="0" y="0"/>
                </a:moveTo>
                <a:lnTo>
                  <a:pt x="5687661" y="0"/>
                </a:lnTo>
                <a:lnTo>
                  <a:pt x="5687661" y="7384260"/>
                </a:lnTo>
                <a:lnTo>
                  <a:pt x="0" y="7384260"/>
                </a:lnTo>
                <a:lnTo>
                  <a:pt x="0" y="0"/>
                </a:lnTo>
                <a:close/>
              </a:path>
            </a:pathLst>
          </a:custGeom>
          <a:blipFill>
            <a:blip r:embed="rId1"/>
            <a:stretch>
              <a:fillRect t="-7768" b="-7768"/>
            </a:stretch>
          </a:blipFill>
        </p:spPr>
      </p:sp>
      <p:sp>
        <p:nvSpPr>
          <p:cNvPr id="10" name="TextBox 10"/>
          <p:cNvSpPr txBox="1"/>
          <p:nvPr/>
        </p:nvSpPr>
        <p:spPr>
          <a:xfrm>
            <a:off x="1028700" y="579456"/>
            <a:ext cx="15959981" cy="1525905"/>
          </a:xfrm>
          <a:prstGeom prst="rect">
            <a:avLst/>
          </a:prstGeom>
        </p:spPr>
        <p:txBody>
          <a:bodyPr lIns="0" tIns="0" rIns="0" bIns="0" rtlCol="0" anchor="t">
            <a:spAutoFit/>
            <a:scene3d>
              <a:camera prst="orthographicFront"/>
              <a:lightRig rig="threePt" dir="t"/>
            </a:scene3d>
          </a:bodyPr>
          <a:lstStyle/>
          <a:p>
            <a:pPr algn="ctr">
              <a:lnSpc>
                <a:spcPts val="11900"/>
              </a:lnSpc>
            </a:pPr>
            <a:r>
              <a:rPr lang="en-US" sz="10000" b="1">
                <a:ln>
                  <a:solidFill>
                    <a:sysClr val="windowText" lastClr="000000"/>
                  </a:solidFill>
                </a:ln>
                <a:solidFill>
                  <a:schemeClr val="tx1"/>
                </a:solidFill>
                <a:effectLst>
                  <a:outerShdw blurRad="60007" dist="310007" dir="7680000" sy="30000" kx="1300200" algn="ctr" rotWithShape="0">
                    <a:prstClr val="black">
                      <a:alpha val="32000"/>
                    </a:prstClr>
                  </a:outerShdw>
                </a:effectLst>
                <a:latin typeface="Times New Roman" panose="02020603050405020304" charset="0"/>
                <a:ea typeface="Barber Complete" panose="00000800000000000000"/>
                <a:cs typeface="Times New Roman" panose="02020603050405020304" charset="0"/>
                <a:sym typeface="Barber Complete" panose="00000800000000000000"/>
              </a:rPr>
              <a:t>KHOA HỌC DỮ LIỆU</a:t>
            </a:r>
            <a:endParaRPr lang="en-US" sz="10000" b="1">
              <a:ln>
                <a:solidFill>
                  <a:sysClr val="windowText" lastClr="000000"/>
                </a:solidFill>
              </a:ln>
              <a:solidFill>
                <a:schemeClr val="tx1"/>
              </a:solidFill>
              <a:effectLst>
                <a:outerShdw blurRad="60007" dist="310007" dir="7680000" sy="30000" kx="1300200" algn="ctr" rotWithShape="0">
                  <a:prstClr val="black">
                    <a:alpha val="32000"/>
                  </a:prstClr>
                </a:outerShdw>
              </a:effectLst>
              <a:latin typeface="Times New Roman" panose="02020603050405020304" charset="0"/>
              <a:ea typeface="Barber Complete" panose="00000800000000000000"/>
              <a:cs typeface="Times New Roman" panose="02020603050405020304" charset="0"/>
              <a:sym typeface="Barber Complete" panose="00000800000000000000"/>
            </a:endParaRPr>
          </a:p>
        </p:txBody>
      </p:sp>
      <p:sp>
        <p:nvSpPr>
          <p:cNvPr id="11" name="TextBox 11"/>
          <p:cNvSpPr txBox="1"/>
          <p:nvPr/>
        </p:nvSpPr>
        <p:spPr>
          <a:xfrm>
            <a:off x="576854" y="2621585"/>
            <a:ext cx="11469370" cy="2668905"/>
          </a:xfrm>
          <a:prstGeom prst="rect">
            <a:avLst/>
          </a:prstGeom>
        </p:spPr>
        <p:txBody>
          <a:bodyPr lIns="0" tIns="0" rIns="0" bIns="0" rtlCol="0" anchor="t">
            <a:spAutoFit/>
          </a:bodyPr>
          <a:lstStyle/>
          <a:p>
            <a:pPr algn="ctr">
              <a:lnSpc>
                <a:spcPts val="7050"/>
              </a:lnSpc>
            </a:pPr>
            <a:r>
              <a:rPr lang="en-US" sz="47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PHÂN TÍCH CÁC YẾU TỐ ẢNH HƯỞNG VÀ DỰ ĐOÁN MỨC ĐỘ NGHIÊM TRỌNG CỦA TAI NẠN GIAO THÔNG</a:t>
            </a:r>
            <a:endParaRPr lang="en-US" sz="47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2" name="TextBox 12"/>
          <p:cNvSpPr txBox="1"/>
          <p:nvPr/>
        </p:nvSpPr>
        <p:spPr>
          <a:xfrm>
            <a:off x="1739002" y="5823889"/>
            <a:ext cx="9145075" cy="2524126"/>
          </a:xfrm>
          <a:prstGeom prst="rect">
            <a:avLst/>
          </a:prstGeom>
        </p:spPr>
        <p:txBody>
          <a:bodyPr lIns="0" tIns="0" rIns="0" bIns="0" rtlCol="0" anchor="t">
            <a:spAutoFit/>
          </a:bodyPr>
          <a:lstStyle/>
          <a:p>
            <a:pPr algn="just">
              <a:lnSpc>
                <a:spcPts val="6750"/>
              </a:lnSpc>
            </a:pPr>
            <a:r>
              <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Sinh viên thực hiện: Đậu Văn Khánh</a:t>
            </a:r>
            <a:endPar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6750"/>
              </a:lnSpc>
            </a:pPr>
            <a:r>
              <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MSSV: K225480106099</a:t>
            </a:r>
            <a:endPar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6750"/>
              </a:lnSpc>
            </a:pPr>
            <a:r>
              <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GVHD: TS. Nguyễn Văn Huy</a:t>
            </a:r>
            <a:endParaRPr lang="en-US" sz="45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sz="2000">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sz="2000">
                  <a:latin typeface="Times New Roman" panose="02020603050405020304" charset="0"/>
                  <a:cs typeface="Times New Roman" panose="02020603050405020304" charset="0"/>
                </a:endParaRPr>
              </a:p>
            </p:txBody>
          </p:sp>
        </p:grpSp>
      </p:grpSp>
      <p:sp>
        <p:nvSpPr>
          <p:cNvPr id="30" name="Text 0"/>
          <p:cNvSpPr/>
          <p:nvPr/>
        </p:nvSpPr>
        <p:spPr>
          <a:xfrm>
            <a:off x="822960" y="724027"/>
            <a:ext cx="13716000" cy="438912"/>
          </a:xfrm>
          <a:prstGeom prst="rect">
            <a:avLst/>
          </a:prstGeom>
          <a:noFill/>
        </p:spPr>
        <p:txBody>
          <a:bodyPr wrap="square" lIns="0" tIns="0" rIns="0" bIns="0" rtlCol="0" anchor="ctr"/>
          <a:lstStyle/>
          <a:p>
            <a:pPr marL="0" indent="0">
              <a:buNone/>
            </a:pP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CHƯƠNG 1</a:t>
            </a:r>
            <a:r>
              <a:rPr lang="vi-VN" alt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 GIỚI THIỆU ĐỀ TÀI</a:t>
            </a:r>
            <a:endPar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31" name="Text 1"/>
          <p:cNvSpPr/>
          <p:nvPr/>
        </p:nvSpPr>
        <p:spPr>
          <a:xfrm>
            <a:off x="838200" y="1257427"/>
            <a:ext cx="16596360" cy="1028700"/>
          </a:xfrm>
          <a:prstGeom prst="rect">
            <a:avLst/>
          </a:prstGeom>
          <a:noFill/>
        </p:spPr>
        <p:txBody>
          <a:bodyPr wrap="square" lIns="0" tIns="0" rIns="0" bIns="0" rtlCol="0" anchor="ctr"/>
          <a:lstStyle/>
          <a:p>
            <a:pPr marL="0" indent="0">
              <a:buNone/>
            </a:pP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Lý do chọn đề tài </a:t>
            </a:r>
            <a:r>
              <a:rPr lang="vi-VN" altLang="en-US" sz="3600" b="1" dirty="0">
                <a:solidFill>
                  <a:srgbClr val="2B2B2E"/>
                </a:solidFill>
                <a:latin typeface="Times New Roman" panose="02020603050405020304" charset="0"/>
                <a:ea typeface="Cambria" panose="02040503050406030204" pitchFamily="34" charset="-122"/>
                <a:cs typeface="Times New Roman" panose="02020603050405020304" charset="0"/>
              </a:rPr>
              <a:t>và</a:t>
            </a: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 </a:t>
            </a:r>
            <a:r>
              <a:rPr lang="vi-VN" altLang="en-US" sz="3600" b="1" dirty="0">
                <a:solidFill>
                  <a:srgbClr val="2B2B2E"/>
                </a:solidFill>
                <a:latin typeface="Times New Roman" panose="02020603050405020304" charset="0"/>
                <a:ea typeface="Cambria" panose="02040503050406030204" pitchFamily="34" charset="-122"/>
                <a:cs typeface="Times New Roman" panose="02020603050405020304" charset="0"/>
              </a:rPr>
              <a:t>m</a:t>
            </a: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ục tiêu nghiên cứu</a:t>
            </a:r>
            <a:endParaRPr lang="en-US" sz="36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32" name="Shape 2"/>
          <p:cNvSpPr/>
          <p:nvPr>
            <p:custDataLst>
              <p:tags r:id="rId1"/>
            </p:custDataLst>
          </p:nvPr>
        </p:nvSpPr>
        <p:spPr>
          <a:xfrm>
            <a:off x="822960" y="2400300"/>
            <a:ext cx="8229600" cy="6720840"/>
          </a:xfrm>
          <a:prstGeom prst="roundRect">
            <a:avLst>
              <a:gd name="adj" fmla="val 1633"/>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33" name="Shape 3"/>
          <p:cNvSpPr/>
          <p:nvPr>
            <p:custDataLst>
              <p:tags r:id="rId2"/>
            </p:custDataLst>
          </p:nvPr>
        </p:nvSpPr>
        <p:spPr>
          <a:xfrm>
            <a:off x="1303020" y="2552700"/>
            <a:ext cx="754380" cy="754380"/>
          </a:xfrm>
          <a:prstGeom prst="ellipse">
            <a:avLst/>
          </a:prstGeom>
          <a:solidFill>
            <a:srgbClr val="8B1E2D"/>
          </a:solidFill>
        </p:spPr>
      </p:sp>
      <p:pic>
        <p:nvPicPr>
          <p:cNvPr id="34" name="Image 0" descr="preencoded.png"/>
          <p:cNvPicPr>
            <a:picLocks noChangeAspect="1"/>
          </p:cNvPicPr>
          <p:nvPr>
            <p:custDataLst>
              <p:tags r:id="rId3"/>
            </p:custDataLst>
          </p:nvPr>
        </p:nvPicPr>
        <p:blipFill>
          <a:blip r:embed="rId4"/>
          <a:stretch>
            <a:fillRect/>
          </a:stretch>
        </p:blipFill>
        <p:spPr>
          <a:xfrm>
            <a:off x="1472756" y="2722436"/>
            <a:ext cx="414909" cy="414909"/>
          </a:xfrm>
          <a:prstGeom prst="rect">
            <a:avLst/>
          </a:prstGeom>
        </p:spPr>
      </p:pic>
      <p:sp>
        <p:nvSpPr>
          <p:cNvPr id="35" name="Text 4"/>
          <p:cNvSpPr/>
          <p:nvPr>
            <p:custDataLst>
              <p:tags r:id="rId5"/>
            </p:custDataLst>
          </p:nvPr>
        </p:nvSpPr>
        <p:spPr>
          <a:xfrm>
            <a:off x="2263140" y="2552700"/>
            <a:ext cx="6446520" cy="754380"/>
          </a:xfrm>
          <a:prstGeom prst="rect">
            <a:avLst/>
          </a:prstGeom>
          <a:noFill/>
        </p:spPr>
        <p:txBody>
          <a:bodyPr wrap="square" lIns="0" tIns="0" rIns="0" bIns="0" rtlCol="0" anchor="ctr"/>
          <a:lstStyle/>
          <a:p>
            <a:pPr marL="0" indent="0">
              <a:buNone/>
            </a:pP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Lý do chọn đề tài</a:t>
            </a:r>
            <a:endParaRPr lang="en-US" sz="36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36" name="Text 5"/>
          <p:cNvSpPr/>
          <p:nvPr>
            <p:custDataLst>
              <p:tags r:id="rId6"/>
            </p:custDataLst>
          </p:nvPr>
        </p:nvSpPr>
        <p:spPr>
          <a:xfrm>
            <a:off x="1371600" y="3543300"/>
            <a:ext cx="7338060" cy="5074920"/>
          </a:xfrm>
          <a:prstGeom prst="rect">
            <a:avLst/>
          </a:prstGeom>
          <a:noFill/>
        </p:spPr>
        <p:txBody>
          <a:bodyPr wrap="square" lIns="0" tIns="0" rIns="0" bIns="0" rtlCol="0" anchor="ctr"/>
          <a:lstStyle/>
          <a:p>
            <a:pPr marL="342900" indent="-342900" algn="just">
              <a:lnSpc>
                <a:spcPct val="120000"/>
              </a:lnSpc>
              <a:spcBef>
                <a:spcPts val="0"/>
              </a:spcBef>
              <a:spcAft>
                <a:spcPts val="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Tai nạn giao thông gây thiệt hại nghiêm trọng về người, tài sản và kinh tế trên phạm vi toàn cầu mỗi năm.</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20000"/>
              </a:lnSpc>
              <a:spcBef>
                <a:spcPts val="0"/>
              </a:spcBef>
              <a:spcAft>
                <a:spcPts val="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Bên cạnh ý thức và hạ tầng, thời tiết, thời gian và môi trường giao thông cũng ảnh hưởng đáng kể đến mức độ nghiêm trọng.</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20000"/>
              </a:lnSpc>
              <a:spcBef>
                <a:spcPts val="0"/>
              </a:spcBef>
              <a:spcAft>
                <a:spcPts val="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Dữ liệu quy mô lớn ngày càng sẵn có, mở ra cơ hội ứng dụng khoa học dữ liệu để phân tích và dự báo.</a:t>
            </a:r>
            <a:endParaRPr lang="en-US" sz="2600" dirty="0">
              <a:solidFill>
                <a:schemeClr val="tx1"/>
              </a:solidFill>
              <a:latin typeface="Times New Roman" panose="02020603050405020304" charset="0"/>
              <a:cs typeface="Times New Roman" panose="02020603050405020304" charset="0"/>
            </a:endParaRPr>
          </a:p>
          <a:p>
            <a:pPr marL="342900" indent="-342900" algn="l">
              <a:lnSpc>
                <a:spcPct val="120000"/>
              </a:lnSpc>
              <a:spcBef>
                <a:spcPts val="0"/>
              </a:spcBef>
              <a:spcAft>
                <a:spcPts val="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Đề tài lựa chọn bộ dữ liệu US Accidents (2016–2023) </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 quy mô lớn, đa dạng thuộc tính, phù hợp nghiên cứu.</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37" name="Shape 6"/>
          <p:cNvSpPr/>
          <p:nvPr>
            <p:custDataLst>
              <p:tags r:id="rId7"/>
            </p:custDataLst>
          </p:nvPr>
        </p:nvSpPr>
        <p:spPr>
          <a:xfrm>
            <a:off x="9326880" y="2400300"/>
            <a:ext cx="8092440" cy="6720840"/>
          </a:xfrm>
          <a:prstGeom prst="roundRect">
            <a:avLst>
              <a:gd name="adj" fmla="val 1633"/>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38" name="Shape 7"/>
          <p:cNvSpPr/>
          <p:nvPr>
            <p:custDataLst>
              <p:tags r:id="rId8"/>
            </p:custDataLst>
          </p:nvPr>
        </p:nvSpPr>
        <p:spPr>
          <a:xfrm>
            <a:off x="9736455" y="2575560"/>
            <a:ext cx="754380" cy="754380"/>
          </a:xfrm>
          <a:prstGeom prst="ellipse">
            <a:avLst/>
          </a:prstGeom>
          <a:solidFill>
            <a:srgbClr val="E08E1D"/>
          </a:solidFill>
        </p:spPr>
      </p:sp>
      <p:pic>
        <p:nvPicPr>
          <p:cNvPr id="39" name="Image 1" descr="preencoded.png"/>
          <p:cNvPicPr>
            <a:picLocks noChangeAspect="1"/>
          </p:cNvPicPr>
          <p:nvPr>
            <p:custDataLst>
              <p:tags r:id="rId9"/>
            </p:custDataLst>
          </p:nvPr>
        </p:nvPicPr>
        <p:blipFill>
          <a:blip r:embed="rId10"/>
          <a:stretch>
            <a:fillRect/>
          </a:stretch>
        </p:blipFill>
        <p:spPr>
          <a:xfrm>
            <a:off x="9906191" y="2745296"/>
            <a:ext cx="414909" cy="414909"/>
          </a:xfrm>
          <a:prstGeom prst="rect">
            <a:avLst/>
          </a:prstGeom>
        </p:spPr>
      </p:pic>
      <p:sp>
        <p:nvSpPr>
          <p:cNvPr id="40" name="Text 8"/>
          <p:cNvSpPr/>
          <p:nvPr>
            <p:custDataLst>
              <p:tags r:id="rId11"/>
            </p:custDataLst>
          </p:nvPr>
        </p:nvSpPr>
        <p:spPr>
          <a:xfrm>
            <a:off x="10696575" y="2575560"/>
            <a:ext cx="6446520" cy="754380"/>
          </a:xfrm>
          <a:prstGeom prst="rect">
            <a:avLst/>
          </a:prstGeom>
          <a:noFill/>
        </p:spPr>
        <p:txBody>
          <a:bodyPr wrap="square" lIns="0" tIns="0" rIns="0" bIns="0" rtlCol="0" anchor="ctr"/>
          <a:lstStyle/>
          <a:p>
            <a:pPr marL="0" indent="0">
              <a:buNone/>
            </a:pP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Mục tiêu nghiên cứu</a:t>
            </a:r>
            <a:endParaRPr lang="en-US" sz="36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41" name="Text 9"/>
          <p:cNvSpPr/>
          <p:nvPr>
            <p:custDataLst>
              <p:tags r:id="rId12"/>
            </p:custDataLst>
          </p:nvPr>
        </p:nvSpPr>
        <p:spPr>
          <a:xfrm>
            <a:off x="9806940" y="3543300"/>
            <a:ext cx="7059930" cy="5143500"/>
          </a:xfrm>
          <a:prstGeom prst="rect">
            <a:avLst/>
          </a:prstGeom>
          <a:noFill/>
        </p:spPr>
        <p:txBody>
          <a:bodyPr wrap="square" lIns="0" tIns="0" rIns="0" bIns="0" rtlCol="0" anchor="ctr"/>
          <a:lstStyle/>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Khảo sát đặc điểm bộ dữ liệu US Accidents (2016–2023)</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Tiền xử lý: loại bỏ dữ liệu thiếu, chuẩn hóa dữ liệu</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Phân tích yếu tố ảnh hưởng theo thời gian, vị trí, thời tiết</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Trực quan hóa dữ liệu hỗ trợ khám phá &amp; diễn giải</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Xây dựng mô hình Random Forest dự đoán </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m</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ức độ nghiêm trọng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Severity</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Áp dụng K-Means phân nhóm khu vực theo rủi ro</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7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Đánh giá mô hình và đề xuất hướng phát triển</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2</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47" name="Text 11"/>
          <p:cNvSpPr/>
          <p:nvPr/>
        </p:nvSpPr>
        <p:spPr>
          <a:xfrm>
            <a:off x="10961370" y="9258300"/>
            <a:ext cx="6114415" cy="411480"/>
          </a:xfrm>
          <a:prstGeom prst="rect">
            <a:avLst/>
          </a:prstGeom>
          <a:noFill/>
        </p:spPr>
        <p:txBody>
          <a:bodyPr wrap="square" lIns="0" tIns="0" rIns="0" bIns="0" rtlCol="0" anchor="ctr"/>
          <a:lstStyle/>
          <a:p>
            <a:pPr marL="0" indent="0" algn="r">
              <a:buNone/>
            </a:pPr>
            <a:r>
              <a:rPr lang="vi-VN" alt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 - K225480106099</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  |  Khoa học dữ liệu</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sz="2800">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sz="2800">
                  <a:latin typeface="Times New Roman" panose="02020603050405020304" charset="0"/>
                  <a:cs typeface="Times New Roman" panose="02020603050405020304" charset="0"/>
                </a:endParaRPr>
              </a:p>
            </p:txBody>
          </p:sp>
        </p:grpSp>
      </p:gr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en-US" sz="2800" b="1" dirty="0">
                <a:solidFill>
                  <a:srgbClr val="8B1E2D"/>
                </a:solidFill>
                <a:latin typeface="Times New Roman" panose="02020603050405020304" charset="0"/>
                <a:ea typeface="Calibri" panose="020F0502020204030204" pitchFamily="34" charset="-122"/>
                <a:cs typeface="Times New Roman" panose="02020603050405020304" charset="0"/>
              </a:rPr>
              <a:t>3</a:t>
            </a:r>
            <a:endParaRPr 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9" name="Text 0"/>
          <p:cNvSpPr/>
          <p:nvPr/>
        </p:nvSpPr>
        <p:spPr>
          <a:xfrm>
            <a:off x="822960" y="681482"/>
            <a:ext cx="13716000" cy="438912"/>
          </a:xfrm>
          <a:prstGeom prst="rect">
            <a:avLst/>
          </a:prstGeom>
          <a:noFill/>
        </p:spPr>
        <p:txBody>
          <a:bodyPr wrap="square" lIns="0" tIns="0" rIns="0" bIns="0" rtlCol="0" anchor="ctr"/>
          <a:lstStyle/>
          <a:p>
            <a:pPr marL="0" indent="0">
              <a:buNone/>
            </a:pPr>
            <a:r>
              <a:rPr lang="en-US" sz="2400" b="1" kern="0" spc="200" dirty="0">
                <a:solidFill>
                  <a:schemeClr val="tx1"/>
                </a:solidFill>
                <a:latin typeface="Times New Roman" panose="02020603050405020304" charset="0"/>
                <a:ea typeface="Calibri" panose="020F0502020204030204" pitchFamily="34" charset="-122"/>
                <a:cs typeface="Times New Roman" panose="02020603050405020304" charset="0"/>
              </a:rPr>
              <a:t>CHƯƠNG 1</a:t>
            </a:r>
            <a:r>
              <a:rPr lang="vi-VN" altLang="en-US" sz="2400" b="1" kern="0" spc="2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2400" b="1" kern="0" spc="200" dirty="0">
                <a:solidFill>
                  <a:schemeClr val="tx1"/>
                </a:solidFill>
                <a:latin typeface="Times New Roman" panose="02020603050405020304" charset="0"/>
                <a:ea typeface="Calibri" panose="020F0502020204030204" pitchFamily="34" charset="-122"/>
                <a:cs typeface="Times New Roman" panose="02020603050405020304" charset="0"/>
              </a:rPr>
              <a:t> GIỚI THIỆU ĐỀ TÀI</a:t>
            </a:r>
            <a:endParaRPr lang="en-US" sz="2400" b="1" kern="0" spc="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 name="Text 1"/>
          <p:cNvSpPr/>
          <p:nvPr/>
        </p:nvSpPr>
        <p:spPr>
          <a:xfrm>
            <a:off x="822960" y="987552"/>
            <a:ext cx="16596360" cy="1028700"/>
          </a:xfrm>
          <a:prstGeom prst="rect">
            <a:avLst/>
          </a:prstGeom>
          <a:noFill/>
        </p:spPr>
        <p:txBody>
          <a:bodyPr wrap="square" lIns="0" tIns="0" rIns="0" bIns="0" rtlCol="0" anchor="ctr"/>
          <a:lstStyle/>
          <a:p>
            <a:pPr marL="0" indent="0">
              <a:buNone/>
            </a:pP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Đối tượng, phạm vi </a:t>
            </a:r>
            <a:r>
              <a:rPr lang="vi-VN" altLang="en-US" sz="3600" b="1" dirty="0">
                <a:solidFill>
                  <a:srgbClr val="2B2B2E"/>
                </a:solidFill>
                <a:latin typeface="Times New Roman" panose="02020603050405020304" charset="0"/>
                <a:ea typeface="Cambria" panose="02040503050406030204" pitchFamily="34" charset="-122"/>
                <a:cs typeface="Times New Roman" panose="02020603050405020304" charset="0"/>
              </a:rPr>
              <a:t>và</a:t>
            </a: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 câu hỏi nghiên cứu</a:t>
            </a:r>
            <a:endParaRPr lang="en-US" sz="36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11" name="Shape 2"/>
          <p:cNvSpPr/>
          <p:nvPr/>
        </p:nvSpPr>
        <p:spPr>
          <a:xfrm>
            <a:off x="822960" y="2171700"/>
            <a:ext cx="5349240" cy="2125980"/>
          </a:xfrm>
          <a:prstGeom prst="roundRect">
            <a:avLst>
              <a:gd name="adj" fmla="val 5161"/>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12" name="Shape 3"/>
          <p:cNvSpPr/>
          <p:nvPr/>
        </p:nvSpPr>
        <p:spPr>
          <a:xfrm>
            <a:off x="1165860" y="2378837"/>
            <a:ext cx="685800" cy="685800"/>
          </a:xfrm>
          <a:prstGeom prst="ellipse">
            <a:avLst/>
          </a:prstGeom>
          <a:solidFill>
            <a:srgbClr val="8B1E2D"/>
          </a:solidFill>
        </p:spPr>
      </p:sp>
      <p:pic>
        <p:nvPicPr>
          <p:cNvPr id="13" name="Image 0" descr="preencoded.png"/>
          <p:cNvPicPr>
            <a:picLocks noChangeAspect="1"/>
          </p:cNvPicPr>
          <p:nvPr/>
        </p:nvPicPr>
        <p:blipFill>
          <a:blip r:embed="rId1"/>
          <a:stretch>
            <a:fillRect/>
          </a:stretch>
        </p:blipFill>
        <p:spPr>
          <a:xfrm>
            <a:off x="1320165" y="2324227"/>
            <a:ext cx="377190" cy="377190"/>
          </a:xfrm>
          <a:prstGeom prst="rect">
            <a:avLst/>
          </a:prstGeom>
        </p:spPr>
      </p:pic>
      <p:sp>
        <p:nvSpPr>
          <p:cNvPr id="14" name="Text 4"/>
          <p:cNvSpPr/>
          <p:nvPr/>
        </p:nvSpPr>
        <p:spPr>
          <a:xfrm>
            <a:off x="2084832" y="2377313"/>
            <a:ext cx="3840480" cy="384048"/>
          </a:xfrm>
          <a:prstGeom prst="rect">
            <a:avLst/>
          </a:prstGeom>
          <a:noFill/>
        </p:spPr>
        <p:txBody>
          <a:bodyPr wrap="square" lIns="0" tIns="0" rIns="0" bIns="0" rtlCol="0" anchor="ctr"/>
          <a:lstStyle/>
          <a:p>
            <a:pPr marL="0" indent="0">
              <a:buNone/>
            </a:pPr>
            <a:r>
              <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rPr>
              <a:t>BỘ DỮ LIỆU</a:t>
            </a:r>
            <a:endPar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 name="Text 5"/>
          <p:cNvSpPr/>
          <p:nvPr/>
        </p:nvSpPr>
        <p:spPr>
          <a:xfrm>
            <a:off x="2084832" y="2834513"/>
            <a:ext cx="3840480" cy="48006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US Accidents</a:t>
            </a:r>
            <a:endParaRPr lang="en-US"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16" name="Text 6"/>
          <p:cNvSpPr/>
          <p:nvPr/>
        </p:nvSpPr>
        <p:spPr>
          <a:xfrm>
            <a:off x="1165860" y="3390900"/>
            <a:ext cx="4663440" cy="685800"/>
          </a:xfrm>
          <a:prstGeom prst="rect">
            <a:avLst/>
          </a:prstGeom>
          <a:noFill/>
        </p:spPr>
        <p:txBody>
          <a:bodyPr wrap="square" lIns="0" tIns="0" rIns="0" bIns="0" rtlCol="0" anchor="ctr"/>
          <a:lstStyle/>
          <a:p>
            <a:pPr marL="0" indent="0">
              <a:buNone/>
            </a:pP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2016 – 2023, nguồn Kaggle</a:t>
            </a:r>
            <a:endParaRPr lang="en-US" sz="28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7" name="Shape 7"/>
          <p:cNvSpPr/>
          <p:nvPr/>
        </p:nvSpPr>
        <p:spPr>
          <a:xfrm>
            <a:off x="6515100" y="2171700"/>
            <a:ext cx="5349240" cy="2125980"/>
          </a:xfrm>
          <a:prstGeom prst="roundRect">
            <a:avLst>
              <a:gd name="adj" fmla="val 5161"/>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18" name="Shape 8"/>
          <p:cNvSpPr/>
          <p:nvPr/>
        </p:nvSpPr>
        <p:spPr>
          <a:xfrm>
            <a:off x="6858000" y="2335657"/>
            <a:ext cx="685800" cy="685800"/>
          </a:xfrm>
          <a:prstGeom prst="ellipse">
            <a:avLst/>
          </a:prstGeom>
          <a:solidFill>
            <a:srgbClr val="8B1E2D"/>
          </a:solidFill>
        </p:spPr>
      </p:sp>
      <p:pic>
        <p:nvPicPr>
          <p:cNvPr id="19" name="Image 1" descr="preencoded.png"/>
          <p:cNvPicPr>
            <a:picLocks noChangeAspect="1"/>
          </p:cNvPicPr>
          <p:nvPr/>
        </p:nvPicPr>
        <p:blipFill>
          <a:blip r:embed="rId2"/>
          <a:stretch>
            <a:fillRect/>
          </a:stretch>
        </p:blipFill>
        <p:spPr>
          <a:xfrm>
            <a:off x="7012305" y="2489962"/>
            <a:ext cx="377190" cy="377190"/>
          </a:xfrm>
          <a:prstGeom prst="rect">
            <a:avLst/>
          </a:prstGeom>
        </p:spPr>
      </p:pic>
      <p:sp>
        <p:nvSpPr>
          <p:cNvPr id="20" name="Text 9"/>
          <p:cNvSpPr/>
          <p:nvPr/>
        </p:nvSpPr>
        <p:spPr>
          <a:xfrm>
            <a:off x="7776972" y="2280793"/>
            <a:ext cx="3840480" cy="384048"/>
          </a:xfrm>
          <a:prstGeom prst="rect">
            <a:avLst/>
          </a:prstGeom>
          <a:noFill/>
        </p:spPr>
        <p:txBody>
          <a:bodyPr wrap="square" lIns="0" tIns="0" rIns="0" bIns="0" rtlCol="0" anchor="ctr"/>
          <a:lstStyle/>
          <a:p>
            <a:pPr marL="0" indent="0">
              <a:buNone/>
            </a:pPr>
            <a:r>
              <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rPr>
              <a:t>CÔNG CỤ</a:t>
            </a:r>
            <a:endPar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1" name="Text 10"/>
          <p:cNvSpPr/>
          <p:nvPr/>
        </p:nvSpPr>
        <p:spPr>
          <a:xfrm>
            <a:off x="7776972" y="2781173"/>
            <a:ext cx="3840480" cy="48006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Python · Jupyter</a:t>
            </a:r>
            <a:endParaRPr lang="en-US"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22" name="Text 11"/>
          <p:cNvSpPr/>
          <p:nvPr/>
        </p:nvSpPr>
        <p:spPr>
          <a:xfrm>
            <a:off x="6946900" y="3409950"/>
            <a:ext cx="4486275" cy="685800"/>
          </a:xfrm>
          <a:prstGeom prst="rect">
            <a:avLst/>
          </a:prstGeom>
          <a:noFill/>
        </p:spPr>
        <p:txBody>
          <a:bodyPr wrap="square" lIns="0" tIns="0" rIns="0" bIns="0" rtlCol="0" anchor="ctr"/>
          <a:lstStyle/>
          <a:p>
            <a:pPr marL="0" indent="0" algn="just">
              <a:lnSpc>
                <a:spcPct val="100000"/>
              </a:lnSpc>
              <a:buNone/>
            </a:pP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Pandas, NumPy, Scikit-learn</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 </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Seaborn, </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Matplotlib</a:t>
            </a:r>
            <a:endPar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3" name="Shape 12"/>
          <p:cNvSpPr/>
          <p:nvPr/>
        </p:nvSpPr>
        <p:spPr>
          <a:xfrm>
            <a:off x="12207240" y="2171700"/>
            <a:ext cx="5349240" cy="2125980"/>
          </a:xfrm>
          <a:prstGeom prst="roundRect">
            <a:avLst>
              <a:gd name="adj" fmla="val 5161"/>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24" name="Shape 13"/>
          <p:cNvSpPr/>
          <p:nvPr/>
        </p:nvSpPr>
        <p:spPr>
          <a:xfrm>
            <a:off x="12550140" y="2335657"/>
            <a:ext cx="685800" cy="685800"/>
          </a:xfrm>
          <a:prstGeom prst="ellipse">
            <a:avLst/>
          </a:prstGeom>
          <a:solidFill>
            <a:srgbClr val="8B1E2D"/>
          </a:solidFill>
        </p:spPr>
      </p:sp>
      <p:pic>
        <p:nvPicPr>
          <p:cNvPr id="25" name="Image 2" descr="preencoded.png"/>
          <p:cNvPicPr>
            <a:picLocks noChangeAspect="1"/>
          </p:cNvPicPr>
          <p:nvPr/>
        </p:nvPicPr>
        <p:blipFill>
          <a:blip r:embed="rId3"/>
          <a:stretch>
            <a:fillRect/>
          </a:stretch>
        </p:blipFill>
        <p:spPr>
          <a:xfrm>
            <a:off x="12704445" y="2489962"/>
            <a:ext cx="377190" cy="377190"/>
          </a:xfrm>
          <a:prstGeom prst="rect">
            <a:avLst/>
          </a:prstGeom>
        </p:spPr>
      </p:pic>
      <p:sp>
        <p:nvSpPr>
          <p:cNvPr id="26" name="Text 14"/>
          <p:cNvSpPr/>
          <p:nvPr/>
        </p:nvSpPr>
        <p:spPr>
          <a:xfrm>
            <a:off x="13469112" y="2280793"/>
            <a:ext cx="3840480" cy="384048"/>
          </a:xfrm>
          <a:prstGeom prst="rect">
            <a:avLst/>
          </a:prstGeom>
          <a:noFill/>
        </p:spPr>
        <p:txBody>
          <a:bodyPr wrap="square" lIns="0" tIns="0" rIns="0" bIns="0" rtlCol="0" anchor="ctr"/>
          <a:lstStyle/>
          <a:p>
            <a:pPr marL="0" indent="0">
              <a:buNone/>
            </a:pPr>
            <a:r>
              <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rPr>
              <a:t>PHƯƠNG PHÁP</a:t>
            </a:r>
            <a:endParaRPr lang="en-US" sz="2800" b="1" kern="0" spc="1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7" name="Text 15"/>
          <p:cNvSpPr/>
          <p:nvPr/>
        </p:nvSpPr>
        <p:spPr>
          <a:xfrm>
            <a:off x="13339445" y="2761615"/>
            <a:ext cx="3970020" cy="48006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EDA + </a:t>
            </a:r>
            <a:r>
              <a:rPr lang="en-US" altLang="en-GB" sz="2800" b="1" dirty="0">
                <a:solidFill>
                  <a:schemeClr val="tx1"/>
                </a:solidFill>
                <a:latin typeface="Times New Roman" panose="02020603050405020304" charset="0"/>
                <a:ea typeface="Cambria" panose="02040503050406030204" pitchFamily="34" charset="-122"/>
                <a:cs typeface="Times New Roman" panose="02020603050405020304" charset="0"/>
              </a:rPr>
              <a:t>Machine Learning</a:t>
            </a:r>
            <a:endParaRPr lang="en-US" altLang="en-GB"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28" name="Text 16"/>
          <p:cNvSpPr/>
          <p:nvPr/>
        </p:nvSpPr>
        <p:spPr>
          <a:xfrm>
            <a:off x="12550140" y="3406140"/>
            <a:ext cx="4663440" cy="685800"/>
          </a:xfrm>
          <a:prstGeom prst="rect">
            <a:avLst/>
          </a:prstGeom>
          <a:noFill/>
        </p:spPr>
        <p:txBody>
          <a:bodyPr wrap="square" lIns="0" tIns="0" rIns="0" bIns="0" rtlCol="0" anchor="ctr"/>
          <a:lstStyle/>
          <a:p>
            <a:pPr marL="0" indent="0">
              <a:buNone/>
            </a:pP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Random Forest &amp; K-Means</a:t>
            </a:r>
            <a:endParaRPr lang="en-US" sz="28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9" name="Text 17"/>
          <p:cNvSpPr/>
          <p:nvPr/>
        </p:nvSpPr>
        <p:spPr>
          <a:xfrm>
            <a:off x="838200" y="4533900"/>
            <a:ext cx="8229600" cy="411480"/>
          </a:xfrm>
          <a:prstGeom prst="rect">
            <a:avLst/>
          </a:prstGeom>
          <a:noFill/>
        </p:spPr>
        <p:txBody>
          <a:bodyPr wrap="square" lIns="0" tIns="0" rIns="0" bIns="0" rtlCol="0" anchor="ctr"/>
          <a:lstStyle/>
          <a:p>
            <a:pPr marL="0" indent="0">
              <a:buNone/>
            </a:pPr>
            <a:r>
              <a:rPr lang="en-US" sz="2800" b="1" kern="0" spc="150" dirty="0">
                <a:solidFill>
                  <a:schemeClr val="tx1"/>
                </a:solidFill>
                <a:latin typeface="Times New Roman" panose="02020603050405020304" charset="0"/>
                <a:ea typeface="Calibri" panose="020F0502020204030204" pitchFamily="34" charset="-122"/>
                <a:cs typeface="Times New Roman" panose="02020603050405020304" charset="0"/>
              </a:rPr>
              <a:t>CÂU HỎI NGHIÊN CỨU</a:t>
            </a:r>
            <a:endParaRPr lang="en-US" sz="2800" b="1" kern="0" spc="15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45" name="Shape 18"/>
          <p:cNvSpPr/>
          <p:nvPr/>
        </p:nvSpPr>
        <p:spPr>
          <a:xfrm>
            <a:off x="822960" y="5144135"/>
            <a:ext cx="8229600" cy="4265930"/>
          </a:xfrm>
          <a:prstGeom prst="roundRect">
            <a:avLst>
              <a:gd name="adj" fmla="val 2909"/>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46" name="Text 19"/>
          <p:cNvSpPr/>
          <p:nvPr/>
        </p:nvSpPr>
        <p:spPr>
          <a:xfrm>
            <a:off x="1066800" y="5325745"/>
            <a:ext cx="5431790" cy="438785"/>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libri" panose="020F0502020204030204" pitchFamily="34" charset="-122"/>
                <a:cs typeface="Times New Roman" panose="02020603050405020304" charset="0"/>
              </a:rPr>
              <a:t>Nhóm phân tích dữ liệu (EDA)</a:t>
            </a:r>
            <a:endParaRPr lang="en-US" sz="28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47" name="Text 20"/>
          <p:cNvSpPr/>
          <p:nvPr/>
        </p:nvSpPr>
        <p:spPr>
          <a:xfrm>
            <a:off x="991235" y="6144895"/>
            <a:ext cx="7894320" cy="2880360"/>
          </a:xfrm>
          <a:prstGeom prst="rect">
            <a:avLst/>
          </a:prstGeom>
          <a:noFill/>
        </p:spPr>
        <p:txBody>
          <a:bodyPr wrap="square" lIns="0" tIns="0" rIns="0" bIns="0" rtlCol="0" anchor="ctr"/>
          <a:lstStyle/>
          <a:p>
            <a:pPr marL="342900" indent="-342900" algn="just">
              <a:lnSpc>
                <a:spcPct val="115000"/>
              </a:lnSpc>
              <a:spcBef>
                <a:spcPts val="0"/>
              </a:spcBef>
              <a:spcAft>
                <a:spcPts val="600"/>
              </a:spcAft>
              <a:buSzPct val="100000"/>
              <a:buChar char="•"/>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Câu 1.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Tai nạn xảy ra nhiều nhất vào khung giờ nào?</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600"/>
              </a:spcAft>
              <a:buSzPct val="100000"/>
              <a:buChar char="•"/>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Câu 2.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Thời tiết nào liên quan đến nhiều vụ tai nạn nhất?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600"/>
              </a:spcAft>
              <a:buSzPct val="100000"/>
              <a:buChar char="•"/>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Câu 3. Những k</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hu vực nào có số vụ tai nạn cao nhất?</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600"/>
              </a:spcAft>
              <a:buSzPct val="100000"/>
              <a:buChar char="•"/>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Câu 4.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Mức độ nghiêm trọng</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 của tai nạn</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 thay đổi theo thời gian ra sao?</a:t>
            </a:r>
            <a:endParaRPr lang="en-US" sz="26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600"/>
              </a:spcAft>
              <a:buSzPct val="100000"/>
              <a:buChar char="•"/>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Câu 5.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Tai nạn</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 có xu hướng</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 tăng hay giảm theo từng năm?</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48" name="Shape 21"/>
          <p:cNvSpPr/>
          <p:nvPr/>
        </p:nvSpPr>
        <p:spPr>
          <a:xfrm>
            <a:off x="9326880" y="5143500"/>
            <a:ext cx="8092440" cy="4090670"/>
          </a:xfrm>
          <a:prstGeom prst="roundRect">
            <a:avLst>
              <a:gd name="adj" fmla="val 2909"/>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49" name="Text 22"/>
          <p:cNvSpPr/>
          <p:nvPr/>
        </p:nvSpPr>
        <p:spPr>
          <a:xfrm>
            <a:off x="9753600" y="5349113"/>
            <a:ext cx="7269480" cy="438912"/>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libri" panose="020F0502020204030204" pitchFamily="34" charset="-122"/>
                <a:cs typeface="Times New Roman" panose="02020603050405020304" charset="0"/>
              </a:rPr>
              <a:t>Nhóm dự đoán </a:t>
            </a:r>
            <a:r>
              <a:rPr lang="vi-VN" altLang="en-US" sz="2800" b="1" dirty="0">
                <a:solidFill>
                  <a:schemeClr val="tx1"/>
                </a:solidFill>
                <a:latin typeface="Times New Roman" panose="02020603050405020304" charset="0"/>
                <a:ea typeface="Calibri" panose="020F0502020204030204" pitchFamily="34" charset="-122"/>
                <a:cs typeface="Times New Roman" panose="02020603050405020304" charset="0"/>
              </a:rPr>
              <a:t>và</a:t>
            </a:r>
            <a:r>
              <a:rPr lang="en-US" sz="2800" b="1" dirty="0">
                <a:solidFill>
                  <a:schemeClr val="tx1"/>
                </a:solidFill>
                <a:latin typeface="Times New Roman" panose="02020603050405020304" charset="0"/>
                <a:ea typeface="Calibri" panose="020F0502020204030204" pitchFamily="34" charset="-122"/>
                <a:cs typeface="Times New Roman" panose="02020603050405020304" charset="0"/>
              </a:rPr>
              <a:t> phân cụm</a:t>
            </a:r>
            <a:endParaRPr lang="en-US" sz="28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50" name="Text 23"/>
          <p:cNvSpPr/>
          <p:nvPr/>
        </p:nvSpPr>
        <p:spPr>
          <a:xfrm>
            <a:off x="9677400" y="6057900"/>
            <a:ext cx="7269480" cy="2743200"/>
          </a:xfrm>
          <a:prstGeom prst="rect">
            <a:avLst/>
          </a:prstGeom>
          <a:noFill/>
        </p:spPr>
        <p:txBody>
          <a:bodyPr wrap="square" lIns="0" tIns="0" rIns="0" bIns="0" rtlCol="0" anchor="ctr"/>
          <a:lstStyle/>
          <a:p>
            <a:pPr marL="342900" indent="-342900" algn="just">
              <a:lnSpc>
                <a:spcPct val="115000"/>
              </a:lnSpc>
              <a:spcBef>
                <a:spcPts val="0"/>
              </a:spcBef>
              <a:spcAft>
                <a:spcPts val="1000"/>
              </a:spcAft>
              <a:buSzPct val="100000"/>
              <a:buChar char="•"/>
            </a:pP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Câu 6. </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Có thể dự đoán mức độ nghiêm trọng</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 của một vụ tai nạn</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 dựa trên thời gian, </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điều kiện </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thời tiết và đặc điểm môi trường hay không?</a:t>
            </a:r>
            <a:endParaRPr lang="en-US" sz="2800" dirty="0">
              <a:solidFill>
                <a:schemeClr val="tx1"/>
              </a:solidFill>
              <a:latin typeface="Times New Roman" panose="02020603050405020304" charset="0"/>
              <a:cs typeface="Times New Roman" panose="02020603050405020304" charset="0"/>
            </a:endParaRPr>
          </a:p>
          <a:p>
            <a:pPr marL="342900" indent="-342900" algn="just">
              <a:lnSpc>
                <a:spcPct val="115000"/>
              </a:lnSpc>
              <a:spcBef>
                <a:spcPts val="0"/>
              </a:spcBef>
              <a:spcAft>
                <a:spcPts val="1000"/>
              </a:spcAft>
              <a:buSzPct val="100000"/>
              <a:buChar char="•"/>
            </a:pP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Câu 7. </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Các khu vực có thể được phân thành những nhóm rủi ro</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 tai nạn</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 nào dựa trên tần suất và mức độ nghiêm trọng</a:t>
            </a:r>
            <a:r>
              <a:rPr lang="vi-VN" altLang="en-US" sz="2800" dirty="0">
                <a:solidFill>
                  <a:schemeClr val="tx1"/>
                </a:solidFill>
                <a:latin typeface="Times New Roman" panose="02020603050405020304" charset="0"/>
                <a:ea typeface="Calibri" panose="020F0502020204030204" pitchFamily="34" charset="-122"/>
                <a:cs typeface="Times New Roman" panose="02020603050405020304" charset="0"/>
              </a:rPr>
              <a:t> của tai nạn</a:t>
            </a:r>
            <a:r>
              <a:rPr lang="en-US" sz="28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8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59" name="Text 11"/>
          <p:cNvSpPr/>
          <p:nvPr/>
        </p:nvSpPr>
        <p:spPr>
          <a:xfrm>
            <a:off x="10961370" y="9258300"/>
            <a:ext cx="6114415" cy="411480"/>
          </a:xfrm>
          <a:prstGeom prst="rect">
            <a:avLst/>
          </a:prstGeom>
          <a:noFill/>
        </p:spPr>
        <p:txBody>
          <a:bodyPr wrap="square" lIns="0" tIns="0" rIns="0" bIns="0" rtlCol="0" anchor="ctr"/>
          <a:lstStyle/>
          <a:p>
            <a:pPr marL="0" indent="0" algn="r">
              <a:buNone/>
            </a:pPr>
            <a:r>
              <a:rPr lang="vi-VN" alt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 - K225480106099</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  |  Khoa học dữ liệu</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sz="2000">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sz="2000">
                  <a:latin typeface="Times New Roman" panose="02020603050405020304" charset="0"/>
                  <a:cs typeface="Times New Roman" panose="02020603050405020304" charset="0"/>
                </a:endParaRPr>
              </a:p>
            </p:txBody>
          </p:sp>
        </p:grpSp>
      </p:gr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4</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92" name="Text 0"/>
          <p:cNvSpPr/>
          <p:nvPr/>
        </p:nvSpPr>
        <p:spPr>
          <a:xfrm>
            <a:off x="822960" y="647827"/>
            <a:ext cx="13716000" cy="438912"/>
          </a:xfrm>
          <a:prstGeom prst="rect">
            <a:avLst/>
          </a:prstGeom>
          <a:noFill/>
        </p:spPr>
        <p:txBody>
          <a:bodyPr wrap="square" lIns="0" tIns="0" rIns="0" bIns="0" rtlCol="0" anchor="ctr"/>
          <a:lstStyle/>
          <a:p>
            <a:pPr marL="0" indent="0">
              <a:buNone/>
            </a:pP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CHƯƠNG 2</a:t>
            </a:r>
            <a:r>
              <a:rPr lang="vi-VN" alt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 CƠ SỞ LÝ THUYẾT</a:t>
            </a:r>
            <a:endPar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93" name="Text 1"/>
          <p:cNvSpPr/>
          <p:nvPr/>
        </p:nvSpPr>
        <p:spPr>
          <a:xfrm>
            <a:off x="822960" y="1078992"/>
            <a:ext cx="16596360" cy="1028700"/>
          </a:xfrm>
          <a:prstGeom prst="rect">
            <a:avLst/>
          </a:prstGeom>
          <a:noFill/>
        </p:spPr>
        <p:txBody>
          <a:bodyPr wrap="square" lIns="0" tIns="0" rIns="0" bIns="0" rtlCol="0" anchor="ctr"/>
          <a:lstStyle/>
          <a:p>
            <a:pPr marL="0" indent="0">
              <a:buNone/>
            </a:pPr>
            <a:r>
              <a:rPr lang="en-US" sz="3400" b="1" dirty="0">
                <a:solidFill>
                  <a:srgbClr val="2B2B2E"/>
                </a:solidFill>
                <a:latin typeface="Times New Roman" panose="02020603050405020304" charset="0"/>
                <a:ea typeface="Cambria" panose="02040503050406030204" pitchFamily="34" charset="-122"/>
                <a:cs typeface="Times New Roman" panose="02020603050405020304" charset="0"/>
              </a:rPr>
              <a:t>Thuật toán Random Forest</a:t>
            </a:r>
            <a:endParaRPr lang="en-US" sz="34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94" name="Shape 2"/>
          <p:cNvSpPr/>
          <p:nvPr/>
        </p:nvSpPr>
        <p:spPr>
          <a:xfrm>
            <a:off x="822960" y="2072005"/>
            <a:ext cx="9738360" cy="7397750"/>
          </a:xfrm>
          <a:prstGeom prst="roundRect">
            <a:avLst>
              <a:gd name="adj" fmla="val 1633"/>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95" name="Shape 3"/>
          <p:cNvSpPr/>
          <p:nvPr/>
        </p:nvSpPr>
        <p:spPr>
          <a:xfrm>
            <a:off x="1303020" y="2247900"/>
            <a:ext cx="754380" cy="754380"/>
          </a:xfrm>
          <a:prstGeom prst="ellipse">
            <a:avLst/>
          </a:prstGeom>
          <a:solidFill>
            <a:srgbClr val="8B1E2D"/>
          </a:solidFill>
        </p:spPr>
      </p:sp>
      <p:pic>
        <p:nvPicPr>
          <p:cNvPr id="96" name="Image 0" descr="preencoded.png"/>
          <p:cNvPicPr>
            <a:picLocks noChangeAspect="1"/>
          </p:cNvPicPr>
          <p:nvPr/>
        </p:nvPicPr>
        <p:blipFill>
          <a:blip r:embed="rId1"/>
          <a:stretch>
            <a:fillRect/>
          </a:stretch>
        </p:blipFill>
        <p:spPr>
          <a:xfrm>
            <a:off x="1472756" y="2417636"/>
            <a:ext cx="414909" cy="414909"/>
          </a:xfrm>
          <a:prstGeom prst="rect">
            <a:avLst/>
          </a:prstGeom>
        </p:spPr>
      </p:pic>
      <p:sp>
        <p:nvSpPr>
          <p:cNvPr id="97" name="Text 4"/>
          <p:cNvSpPr/>
          <p:nvPr/>
        </p:nvSpPr>
        <p:spPr>
          <a:xfrm>
            <a:off x="2209800" y="2247900"/>
            <a:ext cx="6774180" cy="754380"/>
          </a:xfrm>
          <a:prstGeom prst="rect">
            <a:avLst/>
          </a:prstGeom>
          <a:noFill/>
        </p:spPr>
        <p:txBody>
          <a:bodyPr wrap="square" lIns="0" tIns="0" rIns="0" bIns="0" rtlCol="0" anchor="ctr"/>
          <a:lstStyle/>
          <a:p>
            <a:pPr marL="0" indent="0">
              <a:buNone/>
            </a:pPr>
            <a:r>
              <a:rPr lang="en-US" sz="2800" b="1" dirty="0">
                <a:solidFill>
                  <a:srgbClr val="2B2B2E"/>
                </a:solidFill>
                <a:latin typeface="Times New Roman" panose="02020603050405020304" charset="0"/>
                <a:ea typeface="Cambria" panose="02040503050406030204" pitchFamily="34" charset="-122"/>
                <a:cs typeface="Times New Roman" panose="02020603050405020304" charset="0"/>
              </a:rPr>
              <a:t>Học máy có giám sát (Supervised Learning)</a:t>
            </a:r>
            <a:endParaRPr lang="en-US" sz="28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98" name="Text 5"/>
          <p:cNvSpPr/>
          <p:nvPr/>
        </p:nvSpPr>
        <p:spPr>
          <a:xfrm>
            <a:off x="1303020" y="3238373"/>
            <a:ext cx="8778240" cy="960120"/>
          </a:xfrm>
          <a:prstGeom prst="rect">
            <a:avLst/>
          </a:prstGeom>
          <a:noFill/>
        </p:spPr>
        <p:txBody>
          <a:bodyPr wrap="square" lIns="0" tIns="0" rIns="0" bIns="0" rtlCol="0" anchor="ctr"/>
          <a:lstStyle/>
          <a:p>
            <a:pPr marL="0" indent="0" algn="just">
              <a:lnSpc>
                <a:spcPct val="100000"/>
              </a:lnSpc>
              <a:buNone/>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Kết hợp nhiều cây quyết định (Decision Tree) độc lập để nâng cao độ chính xác và giảm hiện tượng quá khớp dữ liệu so với một cây đơn lẻ.</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99" name="Text 6"/>
          <p:cNvSpPr/>
          <p:nvPr/>
        </p:nvSpPr>
        <p:spPr>
          <a:xfrm>
            <a:off x="1303020" y="4499610"/>
            <a:ext cx="6858000" cy="384048"/>
          </a:xfrm>
          <a:prstGeom prst="rect">
            <a:avLst/>
          </a:prstGeom>
          <a:noFill/>
        </p:spPr>
        <p:txBody>
          <a:bodyPr wrap="square" lIns="0" tIns="0" rIns="0" bIns="0" rtlCol="0" anchor="ctr"/>
          <a:lstStyle/>
          <a:p>
            <a:pPr marL="0" indent="0">
              <a:buNone/>
            </a:pPr>
            <a:r>
              <a:rPr lang="en-US" sz="2600" b="1" kern="0" spc="100" dirty="0">
                <a:solidFill>
                  <a:srgbClr val="8B1E2D"/>
                </a:solidFill>
                <a:latin typeface="Times New Roman" panose="02020603050405020304" charset="0"/>
                <a:ea typeface="Calibri" panose="020F0502020204030204" pitchFamily="34" charset="-122"/>
                <a:cs typeface="Times New Roman" panose="02020603050405020304" charset="0"/>
              </a:rPr>
              <a:t>NGUYÊN LÝ HOẠT ĐỘNG</a:t>
            </a:r>
            <a:endParaRPr lang="en-US" sz="2600" b="1" kern="0" spc="100"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100" name="Shape 7"/>
          <p:cNvSpPr/>
          <p:nvPr/>
        </p:nvSpPr>
        <p:spPr>
          <a:xfrm>
            <a:off x="1303020" y="5018405"/>
            <a:ext cx="466344" cy="466344"/>
          </a:xfrm>
          <a:prstGeom prst="ellipse">
            <a:avLst/>
          </a:prstGeom>
          <a:solidFill>
            <a:srgbClr val="E08E1D"/>
          </a:solidFill>
        </p:spPr>
      </p:sp>
      <p:sp>
        <p:nvSpPr>
          <p:cNvPr id="101" name="Text 8"/>
          <p:cNvSpPr/>
          <p:nvPr/>
        </p:nvSpPr>
        <p:spPr>
          <a:xfrm>
            <a:off x="1303020" y="5018405"/>
            <a:ext cx="466344" cy="466344"/>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1</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2" name="Text 9"/>
          <p:cNvSpPr/>
          <p:nvPr/>
        </p:nvSpPr>
        <p:spPr>
          <a:xfrm>
            <a:off x="1947672" y="4990973"/>
            <a:ext cx="8229600" cy="548640"/>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Lấy mẫu ngẫu nhiên từ dữ liệu huấn luyện</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3" name="Shape 10"/>
          <p:cNvSpPr/>
          <p:nvPr/>
        </p:nvSpPr>
        <p:spPr>
          <a:xfrm>
            <a:off x="1303020" y="5704205"/>
            <a:ext cx="466344" cy="466344"/>
          </a:xfrm>
          <a:prstGeom prst="ellipse">
            <a:avLst/>
          </a:prstGeom>
          <a:solidFill>
            <a:srgbClr val="E08E1D"/>
          </a:solidFill>
        </p:spPr>
      </p:sp>
      <p:sp>
        <p:nvSpPr>
          <p:cNvPr id="104" name="Text 11"/>
          <p:cNvSpPr/>
          <p:nvPr/>
        </p:nvSpPr>
        <p:spPr>
          <a:xfrm>
            <a:off x="1303020" y="5704205"/>
            <a:ext cx="466344" cy="466344"/>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2</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5" name="Text 12"/>
          <p:cNvSpPr/>
          <p:nvPr/>
        </p:nvSpPr>
        <p:spPr>
          <a:xfrm>
            <a:off x="1947672" y="5676773"/>
            <a:ext cx="8229600" cy="548640"/>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Xây dựng nhiều cây quyết định độc lập</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6" name="Shape 13"/>
          <p:cNvSpPr/>
          <p:nvPr/>
        </p:nvSpPr>
        <p:spPr>
          <a:xfrm>
            <a:off x="1303020" y="6390005"/>
            <a:ext cx="466344" cy="466344"/>
          </a:xfrm>
          <a:prstGeom prst="ellipse">
            <a:avLst/>
          </a:prstGeom>
          <a:solidFill>
            <a:srgbClr val="E08E1D"/>
          </a:solidFill>
        </p:spPr>
      </p:sp>
      <p:sp>
        <p:nvSpPr>
          <p:cNvPr id="107" name="Text 14"/>
          <p:cNvSpPr/>
          <p:nvPr/>
        </p:nvSpPr>
        <p:spPr>
          <a:xfrm>
            <a:off x="1303020" y="6390005"/>
            <a:ext cx="466344" cy="466344"/>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3</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8" name="Text 15"/>
          <p:cNvSpPr/>
          <p:nvPr/>
        </p:nvSpPr>
        <p:spPr>
          <a:xfrm>
            <a:off x="1947672" y="6362573"/>
            <a:ext cx="8229600" cy="548640"/>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Mỗi cây đưa ra một dự đoán riêng</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9" name="Shape 16"/>
          <p:cNvSpPr/>
          <p:nvPr/>
        </p:nvSpPr>
        <p:spPr>
          <a:xfrm>
            <a:off x="1303020" y="7075805"/>
            <a:ext cx="466344" cy="466344"/>
          </a:xfrm>
          <a:prstGeom prst="ellipse">
            <a:avLst/>
          </a:prstGeom>
          <a:solidFill>
            <a:srgbClr val="E08E1D"/>
          </a:solidFill>
        </p:spPr>
      </p:sp>
      <p:sp>
        <p:nvSpPr>
          <p:cNvPr id="110" name="Text 17"/>
          <p:cNvSpPr/>
          <p:nvPr/>
        </p:nvSpPr>
        <p:spPr>
          <a:xfrm>
            <a:off x="1303020" y="7075805"/>
            <a:ext cx="466344" cy="466344"/>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4</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11" name="Text 18"/>
          <p:cNvSpPr/>
          <p:nvPr/>
        </p:nvSpPr>
        <p:spPr>
          <a:xfrm>
            <a:off x="1947672" y="7200773"/>
            <a:ext cx="8229600" cy="548640"/>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Kết quả cuối cùng theo nguyên tắc bỏ phiếu đa số (Majority Voting)</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12" name="Text 19"/>
          <p:cNvSpPr/>
          <p:nvPr/>
        </p:nvSpPr>
        <p:spPr>
          <a:xfrm>
            <a:off x="1295400" y="8191500"/>
            <a:ext cx="8778240" cy="891540"/>
          </a:xfrm>
          <a:prstGeom prst="rect">
            <a:avLst/>
          </a:prstGeom>
          <a:noFill/>
        </p:spPr>
        <p:txBody>
          <a:bodyPr wrap="square" lIns="0" tIns="0" rIns="0" bIns="0" rtlCol="0" anchor="ctr"/>
          <a:lstStyle/>
          <a:p>
            <a:pPr marL="0" indent="0">
              <a:lnSpc>
                <a:spcPct val="100000"/>
              </a:lnSpc>
              <a:buNone/>
            </a:pPr>
            <a:r>
              <a:rPr lang="vi-VN" altLang="en-US" sz="2600" i="1"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2600" i="1" dirty="0">
                <a:solidFill>
                  <a:schemeClr val="tx1"/>
                </a:solidFill>
                <a:latin typeface="Times New Roman" panose="02020603050405020304" charset="0"/>
                <a:ea typeface="Calibri" panose="020F0502020204030204" pitchFamily="34" charset="-122"/>
                <a:cs typeface="Times New Roman" panose="02020603050405020304" charset="0"/>
              </a:rPr>
              <a:t>Ứng dụng trong đề tài: dự đoán Severity ∈ {1, 2, 3, 4} dựa trên nhiệt độ, độ ẩm, tầm nhìn, tốc độ gió, thời tiết, ngày/đêm, giờ và tháng xảy ra tai nạn.</a:t>
            </a:r>
            <a:endParaRPr lang="en-US" sz="2600" i="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13" name="Shape 20"/>
          <p:cNvSpPr/>
          <p:nvPr/>
        </p:nvSpPr>
        <p:spPr>
          <a:xfrm>
            <a:off x="10904220" y="2072005"/>
            <a:ext cx="6515100" cy="7138035"/>
          </a:xfrm>
          <a:prstGeom prst="roundRect">
            <a:avLst>
              <a:gd name="adj" fmla="val 1684"/>
            </a:avLst>
          </a:prstGeom>
          <a:solidFill>
            <a:srgbClr val="5C1019"/>
          </a:solidFill>
          <a:ln w="9525">
            <a:solidFill>
              <a:srgbClr val="E7E1DC"/>
            </a:solidFill>
            <a:prstDash val="solid"/>
          </a:ln>
        </p:spPr>
      </p:sp>
      <p:sp>
        <p:nvSpPr>
          <p:cNvPr id="114" name="Shape 21"/>
          <p:cNvSpPr/>
          <p:nvPr/>
        </p:nvSpPr>
        <p:spPr>
          <a:xfrm>
            <a:off x="11224260" y="2324100"/>
            <a:ext cx="685800" cy="685800"/>
          </a:xfrm>
          <a:prstGeom prst="ellipse">
            <a:avLst/>
          </a:prstGeom>
          <a:solidFill>
            <a:srgbClr val="E08E1D"/>
          </a:solidFill>
        </p:spPr>
      </p:sp>
      <p:pic>
        <p:nvPicPr>
          <p:cNvPr id="115" name="Image 1" descr="preencoded.png"/>
          <p:cNvPicPr>
            <a:picLocks noChangeAspect="1"/>
          </p:cNvPicPr>
          <p:nvPr/>
        </p:nvPicPr>
        <p:blipFill>
          <a:blip r:embed="rId2"/>
          <a:stretch>
            <a:fillRect/>
          </a:stretch>
        </p:blipFill>
        <p:spPr>
          <a:xfrm>
            <a:off x="11378565" y="2478405"/>
            <a:ext cx="377190" cy="377190"/>
          </a:xfrm>
          <a:prstGeom prst="rect">
            <a:avLst/>
          </a:prstGeom>
        </p:spPr>
      </p:pic>
      <p:sp>
        <p:nvSpPr>
          <p:cNvPr id="116" name="Text 22"/>
          <p:cNvSpPr/>
          <p:nvPr/>
        </p:nvSpPr>
        <p:spPr>
          <a:xfrm>
            <a:off x="12115800" y="2324100"/>
            <a:ext cx="5074920" cy="685800"/>
          </a:xfrm>
          <a:prstGeom prst="rect">
            <a:avLst/>
          </a:prstGeom>
          <a:noFill/>
        </p:spPr>
        <p:txBody>
          <a:bodyPr wrap="square" lIns="0" tIns="0" rIns="0" bIns="0" rtlCol="0" anchor="ctr"/>
          <a:lstStyle/>
          <a:p>
            <a:pPr marL="0" indent="0">
              <a:buNone/>
            </a:pPr>
            <a:r>
              <a:rPr lang="en-US" sz="2800" b="1" dirty="0">
                <a:solidFill>
                  <a:srgbClr val="FFFFFF"/>
                </a:solidFill>
                <a:latin typeface="Times New Roman" panose="02020603050405020304" charset="0"/>
                <a:ea typeface="Cambria" panose="02040503050406030204" pitchFamily="34" charset="-122"/>
                <a:cs typeface="Times New Roman" panose="02020603050405020304" charset="0"/>
              </a:rPr>
              <a:t>Chỉ số đánh giá mô hình</a:t>
            </a:r>
            <a:endParaRPr lang="en-US" sz="2800" b="1" dirty="0">
              <a:solidFill>
                <a:srgbClr val="FFFFFF"/>
              </a:solidFill>
              <a:latin typeface="Times New Roman" panose="02020603050405020304" charset="0"/>
              <a:ea typeface="Cambria" panose="02040503050406030204" pitchFamily="34" charset="-122"/>
              <a:cs typeface="Times New Roman" panose="02020603050405020304" charset="0"/>
            </a:endParaRPr>
          </a:p>
        </p:txBody>
      </p:sp>
      <p:sp>
        <p:nvSpPr>
          <p:cNvPr id="117" name="Text 23"/>
          <p:cNvSpPr/>
          <p:nvPr>
            <p:custDataLst>
              <p:tags r:id="rId3"/>
            </p:custDataLst>
          </p:nvPr>
        </p:nvSpPr>
        <p:spPr>
          <a:xfrm>
            <a:off x="11315700" y="3304540"/>
            <a:ext cx="5760720" cy="384048"/>
          </a:xfrm>
          <a:prstGeom prst="rect">
            <a:avLst/>
          </a:prstGeom>
          <a:noFill/>
        </p:spPr>
        <p:txBody>
          <a:bodyPr wrap="square" lIns="0" tIns="0" rIns="0" bIns="0" rtlCol="0" anchor="ctr"/>
          <a:lstStyle/>
          <a:p>
            <a:pPr marL="0" indent="0">
              <a:buNone/>
            </a:pPr>
            <a:r>
              <a:rPr lang="en-US" sz="2600" b="1" dirty="0">
                <a:solidFill>
                  <a:srgbClr val="E08E1D"/>
                </a:solidFill>
                <a:latin typeface="Times New Roman" panose="02020603050405020304" charset="0"/>
                <a:ea typeface="Calibri" panose="020F0502020204030204" pitchFamily="34" charset="-122"/>
                <a:cs typeface="Times New Roman" panose="02020603050405020304" charset="0"/>
              </a:rPr>
              <a:t>Accuracy</a:t>
            </a:r>
            <a:endParaRPr lang="en-US" sz="2600" b="1" dirty="0">
              <a:solidFill>
                <a:srgbClr val="E08E1D"/>
              </a:solidFill>
              <a:latin typeface="Times New Roman" panose="02020603050405020304" charset="0"/>
              <a:ea typeface="Calibri" panose="020F0502020204030204" pitchFamily="34" charset="-122"/>
              <a:cs typeface="Times New Roman" panose="02020603050405020304" charset="0"/>
            </a:endParaRPr>
          </a:p>
        </p:txBody>
      </p:sp>
      <p:sp>
        <p:nvSpPr>
          <p:cNvPr id="118" name="Text 24"/>
          <p:cNvSpPr/>
          <p:nvPr>
            <p:custDataLst>
              <p:tags r:id="rId4"/>
            </p:custDataLst>
          </p:nvPr>
        </p:nvSpPr>
        <p:spPr>
          <a:xfrm>
            <a:off x="11315700" y="3674872"/>
            <a:ext cx="5760720" cy="617220"/>
          </a:xfrm>
          <a:prstGeom prst="rect">
            <a:avLst/>
          </a:prstGeom>
          <a:noFill/>
        </p:spPr>
        <p:txBody>
          <a:bodyPr wrap="square" lIns="0" tIns="0" rIns="0" bIns="0" rtlCol="0" anchor="ctr"/>
          <a:lstStyle/>
          <a:p>
            <a:pPr marL="0" indent="0">
              <a:lnSpc>
                <a:spcPct val="100000"/>
              </a:lnSpc>
              <a:buNone/>
            </a:pPr>
            <a:r>
              <a:rPr lang="en-US" sz="2600" dirty="0">
                <a:solidFill>
                  <a:srgbClr val="E8D4D8"/>
                </a:solidFill>
                <a:latin typeface="Times New Roman" panose="02020603050405020304" charset="0"/>
                <a:ea typeface="Calibri" panose="020F0502020204030204" pitchFamily="34" charset="-122"/>
                <a:cs typeface="Times New Roman" panose="02020603050405020304" charset="0"/>
              </a:rPr>
              <a:t>Tỷ lệ dự đoán đúng trên toàn bộ dữ liệu</a:t>
            </a:r>
            <a:endParaRPr lang="en-US" sz="2600" dirty="0">
              <a:solidFill>
                <a:srgbClr val="E8D4D8"/>
              </a:solidFill>
              <a:latin typeface="Times New Roman" panose="02020603050405020304" charset="0"/>
              <a:ea typeface="Calibri" panose="020F0502020204030204" pitchFamily="34" charset="-122"/>
              <a:cs typeface="Times New Roman" panose="02020603050405020304" charset="0"/>
            </a:endParaRPr>
          </a:p>
        </p:txBody>
      </p:sp>
      <p:sp>
        <p:nvSpPr>
          <p:cNvPr id="119" name="Text 25"/>
          <p:cNvSpPr/>
          <p:nvPr>
            <p:custDataLst>
              <p:tags r:id="rId5"/>
            </p:custDataLst>
          </p:nvPr>
        </p:nvSpPr>
        <p:spPr>
          <a:xfrm>
            <a:off x="11315065" y="4432300"/>
            <a:ext cx="5723255" cy="384175"/>
          </a:xfrm>
          <a:prstGeom prst="rect">
            <a:avLst/>
          </a:prstGeom>
          <a:noFill/>
        </p:spPr>
        <p:txBody>
          <a:bodyPr wrap="square" lIns="0" tIns="0" rIns="0" bIns="0" rtlCol="0" anchor="ctr"/>
          <a:lstStyle/>
          <a:p>
            <a:pPr marL="0" indent="0">
              <a:buNone/>
            </a:pPr>
            <a:r>
              <a:rPr lang="en-US" sz="2600" b="1" dirty="0">
                <a:solidFill>
                  <a:srgbClr val="E08E1D"/>
                </a:solidFill>
                <a:latin typeface="Times New Roman" panose="02020603050405020304" charset="0"/>
                <a:ea typeface="Calibri" panose="020F0502020204030204" pitchFamily="34" charset="-122"/>
                <a:cs typeface="Times New Roman" panose="02020603050405020304" charset="0"/>
              </a:rPr>
              <a:t>Precision</a:t>
            </a:r>
            <a:endParaRPr lang="en-US" sz="2600" b="1" dirty="0">
              <a:solidFill>
                <a:srgbClr val="E08E1D"/>
              </a:solidFill>
              <a:latin typeface="Times New Roman" panose="02020603050405020304" charset="0"/>
              <a:ea typeface="Calibri" panose="020F0502020204030204" pitchFamily="34" charset="-122"/>
              <a:cs typeface="Times New Roman" panose="02020603050405020304" charset="0"/>
            </a:endParaRPr>
          </a:p>
        </p:txBody>
      </p:sp>
      <p:sp>
        <p:nvSpPr>
          <p:cNvPr id="120" name="Text 26"/>
          <p:cNvSpPr/>
          <p:nvPr>
            <p:custDataLst>
              <p:tags r:id="rId6"/>
            </p:custDataLst>
          </p:nvPr>
        </p:nvSpPr>
        <p:spPr>
          <a:xfrm>
            <a:off x="11315700" y="4957572"/>
            <a:ext cx="5760720" cy="617220"/>
          </a:xfrm>
          <a:prstGeom prst="rect">
            <a:avLst/>
          </a:prstGeom>
          <a:noFill/>
        </p:spPr>
        <p:txBody>
          <a:bodyPr wrap="square" lIns="0" tIns="0" rIns="0" bIns="0" rtlCol="0" anchor="ctr"/>
          <a:lstStyle/>
          <a:p>
            <a:pPr marL="0" indent="0">
              <a:lnSpc>
                <a:spcPct val="100000"/>
              </a:lnSpc>
              <a:buNone/>
            </a:pPr>
            <a:r>
              <a:rPr lang="en-US" sz="2600" dirty="0">
                <a:solidFill>
                  <a:srgbClr val="E8D4D8"/>
                </a:solidFill>
                <a:latin typeface="Times New Roman" panose="02020603050405020304" charset="0"/>
                <a:ea typeface="Calibri" panose="020F0502020204030204" pitchFamily="34" charset="-122"/>
                <a:cs typeface="Times New Roman" panose="02020603050405020304" charset="0"/>
              </a:rPr>
              <a:t>Mức độ chính xác của các dự đoán dương</a:t>
            </a:r>
            <a:endParaRPr lang="en-US" sz="2600" dirty="0">
              <a:solidFill>
                <a:srgbClr val="E8D4D8"/>
              </a:solidFill>
              <a:latin typeface="Times New Roman" panose="02020603050405020304" charset="0"/>
              <a:ea typeface="Calibri" panose="020F0502020204030204" pitchFamily="34" charset="-122"/>
              <a:cs typeface="Times New Roman" panose="02020603050405020304" charset="0"/>
            </a:endParaRPr>
          </a:p>
        </p:txBody>
      </p:sp>
      <p:sp>
        <p:nvSpPr>
          <p:cNvPr id="121" name="Text 27"/>
          <p:cNvSpPr/>
          <p:nvPr>
            <p:custDataLst>
              <p:tags r:id="rId7"/>
            </p:custDataLst>
          </p:nvPr>
        </p:nvSpPr>
        <p:spPr>
          <a:xfrm>
            <a:off x="11315700" y="5784215"/>
            <a:ext cx="5760720" cy="384048"/>
          </a:xfrm>
          <a:prstGeom prst="rect">
            <a:avLst/>
          </a:prstGeom>
          <a:noFill/>
        </p:spPr>
        <p:txBody>
          <a:bodyPr wrap="square" lIns="0" tIns="0" rIns="0" bIns="0" rtlCol="0" anchor="ctr"/>
          <a:lstStyle/>
          <a:p>
            <a:pPr marL="0" indent="0">
              <a:buNone/>
            </a:pPr>
            <a:r>
              <a:rPr lang="en-US" sz="2600" b="1" dirty="0">
                <a:solidFill>
                  <a:srgbClr val="E08E1D"/>
                </a:solidFill>
                <a:latin typeface="Times New Roman" panose="02020603050405020304" charset="0"/>
                <a:ea typeface="Calibri" panose="020F0502020204030204" pitchFamily="34" charset="-122"/>
                <a:cs typeface="Times New Roman" panose="02020603050405020304" charset="0"/>
              </a:rPr>
              <a:t>Recall</a:t>
            </a:r>
            <a:endParaRPr lang="en-US" sz="2600" b="1" dirty="0">
              <a:solidFill>
                <a:srgbClr val="E08E1D"/>
              </a:solidFill>
              <a:latin typeface="Times New Roman" panose="02020603050405020304" charset="0"/>
              <a:ea typeface="Calibri" panose="020F0502020204030204" pitchFamily="34" charset="-122"/>
              <a:cs typeface="Times New Roman" panose="02020603050405020304" charset="0"/>
            </a:endParaRPr>
          </a:p>
        </p:txBody>
      </p:sp>
      <p:sp>
        <p:nvSpPr>
          <p:cNvPr id="122" name="Text 28"/>
          <p:cNvSpPr/>
          <p:nvPr>
            <p:custDataLst>
              <p:tags r:id="rId8"/>
            </p:custDataLst>
          </p:nvPr>
        </p:nvSpPr>
        <p:spPr>
          <a:xfrm>
            <a:off x="11315700" y="6313297"/>
            <a:ext cx="5760720" cy="617220"/>
          </a:xfrm>
          <a:prstGeom prst="rect">
            <a:avLst/>
          </a:prstGeom>
          <a:noFill/>
        </p:spPr>
        <p:txBody>
          <a:bodyPr wrap="square" lIns="0" tIns="0" rIns="0" bIns="0" rtlCol="0" anchor="ctr"/>
          <a:lstStyle/>
          <a:p>
            <a:pPr marL="0" indent="0">
              <a:lnSpc>
                <a:spcPct val="100000"/>
              </a:lnSpc>
              <a:buNone/>
            </a:pPr>
            <a:r>
              <a:rPr lang="en-US" sz="2600" dirty="0">
                <a:solidFill>
                  <a:srgbClr val="E8D4D8"/>
                </a:solidFill>
                <a:latin typeface="Times New Roman" panose="02020603050405020304" charset="0"/>
                <a:ea typeface="Calibri" panose="020F0502020204030204" pitchFamily="34" charset="-122"/>
                <a:cs typeface="Times New Roman" panose="02020603050405020304" charset="0"/>
              </a:rPr>
              <a:t>Khả năng phát hiện đúng mẫu thuộc lớp dự đoán</a:t>
            </a:r>
            <a:endParaRPr lang="en-US" sz="2600" dirty="0">
              <a:solidFill>
                <a:srgbClr val="E8D4D8"/>
              </a:solidFill>
              <a:latin typeface="Times New Roman" panose="02020603050405020304" charset="0"/>
              <a:ea typeface="Calibri" panose="020F0502020204030204" pitchFamily="34" charset="-122"/>
              <a:cs typeface="Times New Roman" panose="02020603050405020304" charset="0"/>
            </a:endParaRPr>
          </a:p>
        </p:txBody>
      </p:sp>
      <p:sp>
        <p:nvSpPr>
          <p:cNvPr id="123" name="Text 29"/>
          <p:cNvSpPr/>
          <p:nvPr>
            <p:custDataLst>
              <p:tags r:id="rId9"/>
            </p:custDataLst>
          </p:nvPr>
        </p:nvSpPr>
        <p:spPr>
          <a:xfrm>
            <a:off x="11315700" y="7296785"/>
            <a:ext cx="5760720" cy="384048"/>
          </a:xfrm>
          <a:prstGeom prst="rect">
            <a:avLst/>
          </a:prstGeom>
          <a:noFill/>
        </p:spPr>
        <p:txBody>
          <a:bodyPr wrap="square" lIns="0" tIns="0" rIns="0" bIns="0" rtlCol="0" anchor="ctr"/>
          <a:lstStyle/>
          <a:p>
            <a:pPr marL="0" indent="0">
              <a:buNone/>
            </a:pPr>
            <a:r>
              <a:rPr lang="en-US" sz="2600" b="1" dirty="0">
                <a:solidFill>
                  <a:srgbClr val="E08E1D"/>
                </a:solidFill>
                <a:latin typeface="Times New Roman" panose="02020603050405020304" charset="0"/>
                <a:ea typeface="Calibri" panose="020F0502020204030204" pitchFamily="34" charset="-122"/>
                <a:cs typeface="Times New Roman" panose="02020603050405020304" charset="0"/>
              </a:rPr>
              <a:t>F1-Score</a:t>
            </a:r>
            <a:endParaRPr lang="en-US" sz="2600" b="1" dirty="0">
              <a:solidFill>
                <a:srgbClr val="E08E1D"/>
              </a:solidFill>
              <a:latin typeface="Times New Roman" panose="02020603050405020304" charset="0"/>
              <a:ea typeface="Calibri" panose="020F0502020204030204" pitchFamily="34" charset="-122"/>
              <a:cs typeface="Times New Roman" panose="02020603050405020304" charset="0"/>
            </a:endParaRPr>
          </a:p>
        </p:txBody>
      </p:sp>
      <p:sp>
        <p:nvSpPr>
          <p:cNvPr id="124" name="Text 30"/>
          <p:cNvSpPr/>
          <p:nvPr>
            <p:custDataLst>
              <p:tags r:id="rId10"/>
            </p:custDataLst>
          </p:nvPr>
        </p:nvSpPr>
        <p:spPr>
          <a:xfrm>
            <a:off x="11315700" y="7859522"/>
            <a:ext cx="5760720" cy="617220"/>
          </a:xfrm>
          <a:prstGeom prst="rect">
            <a:avLst/>
          </a:prstGeom>
          <a:noFill/>
        </p:spPr>
        <p:txBody>
          <a:bodyPr wrap="square" lIns="0" tIns="0" rIns="0" bIns="0" rtlCol="0" anchor="ctr"/>
          <a:lstStyle/>
          <a:p>
            <a:pPr marL="0" indent="0">
              <a:lnSpc>
                <a:spcPct val="100000"/>
              </a:lnSpc>
              <a:buNone/>
            </a:pPr>
            <a:r>
              <a:rPr lang="en-US" sz="2600" dirty="0">
                <a:solidFill>
                  <a:srgbClr val="E8D4D8"/>
                </a:solidFill>
                <a:latin typeface="Times New Roman" panose="02020603050405020304" charset="0"/>
                <a:ea typeface="Calibri" panose="020F0502020204030204" pitchFamily="34" charset="-122"/>
                <a:cs typeface="Times New Roman" panose="02020603050405020304" charset="0"/>
              </a:rPr>
              <a:t>Trung bình điều hòa giữa Precision và Recall</a:t>
            </a:r>
            <a:endParaRPr lang="en-US" sz="2600" dirty="0">
              <a:solidFill>
                <a:srgbClr val="E8D4D8"/>
              </a:solidFill>
              <a:latin typeface="Times New Roman" panose="02020603050405020304" charset="0"/>
              <a:ea typeface="Calibri" panose="020F0502020204030204" pitchFamily="34" charset="-122"/>
              <a:cs typeface="Times New Roman" panose="02020603050405020304" charset="0"/>
            </a:endParaRPr>
          </a:p>
        </p:txBody>
      </p:sp>
      <p:sp>
        <p:nvSpPr>
          <p:cNvPr id="128" name="Text 11"/>
          <p:cNvSpPr/>
          <p:nvPr/>
        </p:nvSpPr>
        <p:spPr>
          <a:xfrm>
            <a:off x="10961370" y="9258300"/>
            <a:ext cx="6114415" cy="411480"/>
          </a:xfrm>
          <a:prstGeom prst="rect">
            <a:avLst/>
          </a:prstGeom>
          <a:noFill/>
        </p:spPr>
        <p:txBody>
          <a:bodyPr wrap="square" lIns="0" tIns="0" rIns="0" bIns="0" rtlCol="0" anchor="ctr"/>
          <a:lstStyle/>
          <a:p>
            <a:pPr marL="0" indent="0" algn="r">
              <a:buNone/>
            </a:pPr>
            <a:r>
              <a:rPr lang="vi-VN" alt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 - K225480106099</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  |  Khoa học dữ liệu</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sz="2000">
                  <a:solidFill>
                    <a:schemeClr val="tx1"/>
                  </a:solidFill>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sz="2000">
                  <a:solidFill>
                    <a:schemeClr val="tx1"/>
                  </a:solidFill>
                  <a:latin typeface="Times New Roman" panose="02020603050405020304" charset="0"/>
                  <a:cs typeface="Times New Roman" panose="02020603050405020304" charset="0"/>
                </a:endParaRPr>
              </a:p>
            </p:txBody>
          </p:sp>
        </p:grpSp>
      </p:grpSp>
      <p:sp>
        <p:nvSpPr>
          <p:cNvPr id="43" name="Text 11"/>
          <p:cNvSpPr/>
          <p:nvPr/>
        </p:nvSpPr>
        <p:spPr>
          <a:xfrm>
            <a:off x="10961370" y="9258300"/>
            <a:ext cx="6114415" cy="411480"/>
          </a:xfrm>
          <a:prstGeom prst="rect">
            <a:avLst/>
          </a:prstGeom>
          <a:noFill/>
        </p:spPr>
        <p:txBody>
          <a:bodyPr wrap="square" lIns="0" tIns="0" rIns="0" bIns="0" rtlCol="0" anchor="ctr"/>
          <a:lstStyle/>
          <a:p>
            <a:pPr marL="0" indent="0" algn="r">
              <a:buNone/>
            </a:pPr>
            <a:r>
              <a:rPr lang="vi-VN" alt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 - K225480106099</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  |  Khoa học dữ liệu</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30" name="Text 0"/>
          <p:cNvSpPr/>
          <p:nvPr/>
        </p:nvSpPr>
        <p:spPr>
          <a:xfrm>
            <a:off x="822960" y="576072"/>
            <a:ext cx="13716000" cy="438912"/>
          </a:xfrm>
          <a:prstGeom prst="rect">
            <a:avLst/>
          </a:prstGeom>
          <a:noFill/>
        </p:spPr>
        <p:txBody>
          <a:bodyPr wrap="square" lIns="0" tIns="0" rIns="0" bIns="0" rtlCol="0" anchor="ctr"/>
          <a:lstStyle/>
          <a:p>
            <a:pPr marL="0" indent="0">
              <a:buNone/>
            </a:pPr>
            <a:r>
              <a:rPr lang="en-US" sz="2000" b="1" kern="0" spc="200" dirty="0">
                <a:solidFill>
                  <a:schemeClr val="tx1"/>
                </a:solidFill>
                <a:latin typeface="Times New Roman" panose="02020603050405020304" charset="0"/>
                <a:ea typeface="Calibri" panose="020F0502020204030204" pitchFamily="34" charset="-122"/>
                <a:cs typeface="Times New Roman" panose="02020603050405020304" charset="0"/>
              </a:rPr>
              <a:t>CHƯƠNG 2</a:t>
            </a:r>
            <a:r>
              <a:rPr lang="vi-VN" altLang="en-US" sz="2000" b="1" kern="0" spc="2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2000" b="1" kern="0" spc="200" dirty="0">
                <a:solidFill>
                  <a:schemeClr val="tx1"/>
                </a:solidFill>
                <a:latin typeface="Times New Roman" panose="02020603050405020304" charset="0"/>
                <a:ea typeface="Calibri" panose="020F0502020204030204" pitchFamily="34" charset="-122"/>
                <a:cs typeface="Times New Roman" panose="02020603050405020304" charset="0"/>
              </a:rPr>
              <a:t> CƠ SỞ LÝ THUYẾT</a:t>
            </a:r>
            <a:endParaRPr lang="en-US" sz="2000" b="1" kern="0" spc="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31" name="Text 1"/>
          <p:cNvSpPr/>
          <p:nvPr/>
        </p:nvSpPr>
        <p:spPr>
          <a:xfrm>
            <a:off x="822960" y="876427"/>
            <a:ext cx="16596360" cy="1028700"/>
          </a:xfrm>
          <a:prstGeom prst="rect">
            <a:avLst/>
          </a:prstGeom>
          <a:noFill/>
        </p:spPr>
        <p:txBody>
          <a:bodyPr wrap="square" lIns="0" tIns="0" rIns="0" bIns="0" rtlCol="0" anchor="ctr"/>
          <a:lstStyle/>
          <a:p>
            <a:pPr marL="0" indent="0">
              <a:buNone/>
            </a:pPr>
            <a:r>
              <a:rPr lang="en-US" sz="3600" b="1" dirty="0">
                <a:solidFill>
                  <a:schemeClr val="tx1"/>
                </a:solidFill>
                <a:latin typeface="Times New Roman" panose="02020603050405020304" charset="0"/>
                <a:ea typeface="Cambria" panose="02040503050406030204" pitchFamily="34" charset="-122"/>
                <a:cs typeface="Times New Roman" panose="02020603050405020304" charset="0"/>
              </a:rPr>
              <a:t>Thuật toán K-Means Clustering</a:t>
            </a:r>
            <a:endParaRPr lang="en-US" sz="36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132" name="Shape 2"/>
          <p:cNvSpPr/>
          <p:nvPr/>
        </p:nvSpPr>
        <p:spPr>
          <a:xfrm>
            <a:off x="822960" y="2016125"/>
            <a:ext cx="9738360" cy="7358380"/>
          </a:xfrm>
          <a:prstGeom prst="roundRect">
            <a:avLst>
              <a:gd name="adj" fmla="val 1633"/>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133" name="Shape 3"/>
          <p:cNvSpPr/>
          <p:nvPr/>
        </p:nvSpPr>
        <p:spPr>
          <a:xfrm>
            <a:off x="1049655" y="2095500"/>
            <a:ext cx="754380" cy="754380"/>
          </a:xfrm>
          <a:prstGeom prst="ellipse">
            <a:avLst/>
          </a:prstGeom>
          <a:solidFill>
            <a:srgbClr val="8B1E2D"/>
          </a:solidFill>
        </p:spPr>
      </p:sp>
      <p:pic>
        <p:nvPicPr>
          <p:cNvPr id="134" name="Image 0" descr="preencoded.png"/>
          <p:cNvPicPr>
            <a:picLocks noChangeAspect="1"/>
          </p:cNvPicPr>
          <p:nvPr/>
        </p:nvPicPr>
        <p:blipFill>
          <a:blip r:embed="rId1"/>
          <a:stretch>
            <a:fillRect/>
          </a:stretch>
        </p:blipFill>
        <p:spPr>
          <a:xfrm>
            <a:off x="1219391" y="2265236"/>
            <a:ext cx="414909" cy="414909"/>
          </a:xfrm>
          <a:prstGeom prst="rect">
            <a:avLst/>
          </a:prstGeom>
        </p:spPr>
      </p:pic>
      <p:sp>
        <p:nvSpPr>
          <p:cNvPr id="135" name="Text 4"/>
          <p:cNvSpPr/>
          <p:nvPr/>
        </p:nvSpPr>
        <p:spPr>
          <a:xfrm>
            <a:off x="2009775" y="2095500"/>
            <a:ext cx="8229600" cy="75438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Học </a:t>
            </a:r>
            <a:r>
              <a:rPr lang="vi-VN" altLang="en-US" sz="2800" b="1" dirty="0">
                <a:solidFill>
                  <a:schemeClr val="tx1"/>
                </a:solidFill>
                <a:latin typeface="Times New Roman" panose="02020603050405020304" charset="0"/>
                <a:ea typeface="Cambria" panose="02040503050406030204" pitchFamily="34" charset="-122"/>
                <a:cs typeface="Times New Roman" panose="02020603050405020304" charset="0"/>
              </a:rPr>
              <a:t>máy </a:t>
            </a: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không giám sát (Unsupervised Learning)</a:t>
            </a:r>
            <a:endParaRPr lang="en-US"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136" name="Text 5"/>
          <p:cNvSpPr/>
          <p:nvPr/>
        </p:nvSpPr>
        <p:spPr>
          <a:xfrm>
            <a:off x="1218565" y="3072130"/>
            <a:ext cx="9245600" cy="822960"/>
          </a:xfrm>
          <a:prstGeom prst="rect">
            <a:avLst/>
          </a:prstGeom>
          <a:noFill/>
        </p:spPr>
        <p:txBody>
          <a:bodyPr wrap="square" lIns="0" tIns="0" rIns="0" bIns="0" rtlCol="0" anchor="ctr"/>
          <a:lstStyle/>
          <a:p>
            <a:pPr marL="0" indent="0" algn="just">
              <a:lnSpc>
                <a:spcPct val="115000"/>
              </a:lnSpc>
              <a:spcBef>
                <a:spcPts val="0"/>
              </a:spcBef>
              <a:spcAft>
                <a:spcPts val="0"/>
              </a:spcAft>
              <a:buNone/>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Chia dữ liệu thành K cụm sao cho các đối tượng trong cùng cụm tương đồng nhất, các cụm khác nhau khác biệt rõ rệt nhất.</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37" name="Text 6"/>
          <p:cNvSpPr/>
          <p:nvPr/>
        </p:nvSpPr>
        <p:spPr>
          <a:xfrm>
            <a:off x="1303020" y="4152900"/>
            <a:ext cx="6858000" cy="384048"/>
          </a:xfrm>
          <a:prstGeom prst="rect">
            <a:avLst/>
          </a:prstGeom>
          <a:noFill/>
        </p:spPr>
        <p:txBody>
          <a:bodyPr wrap="square" lIns="0" tIns="0" rIns="0" bIns="0" rtlCol="0" anchor="ctr"/>
          <a:lstStyle/>
          <a:p>
            <a:pPr marL="0" indent="0">
              <a:buNone/>
            </a:pPr>
            <a:r>
              <a:rPr lang="en-US" sz="2600" b="1" kern="0" spc="100" dirty="0">
                <a:solidFill>
                  <a:schemeClr val="tx1"/>
                </a:solidFill>
                <a:latin typeface="Times New Roman" panose="02020603050405020304" charset="0"/>
                <a:ea typeface="Calibri" panose="020F0502020204030204" pitchFamily="34" charset="-122"/>
                <a:cs typeface="Times New Roman" panose="02020603050405020304" charset="0"/>
              </a:rPr>
              <a:t>CÁC BƯỚC THUẬT TOÁN</a:t>
            </a:r>
            <a:endParaRPr lang="en-US" sz="2600" b="1" kern="0" spc="1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38" name="Shape 7"/>
          <p:cNvSpPr/>
          <p:nvPr/>
        </p:nvSpPr>
        <p:spPr>
          <a:xfrm>
            <a:off x="1303020" y="4759325"/>
            <a:ext cx="438912" cy="438912"/>
          </a:xfrm>
          <a:prstGeom prst="ellipse">
            <a:avLst/>
          </a:prstGeom>
          <a:solidFill>
            <a:srgbClr val="E08E1D"/>
          </a:solidFill>
        </p:spPr>
      </p:sp>
      <p:sp>
        <p:nvSpPr>
          <p:cNvPr id="139" name="Text 8"/>
          <p:cNvSpPr/>
          <p:nvPr/>
        </p:nvSpPr>
        <p:spPr>
          <a:xfrm>
            <a:off x="1303020" y="4759325"/>
            <a:ext cx="438912" cy="438912"/>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1</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0" name="Text 9"/>
          <p:cNvSpPr/>
          <p:nvPr/>
        </p:nvSpPr>
        <p:spPr>
          <a:xfrm>
            <a:off x="1920240" y="4718177"/>
            <a:ext cx="8366760" cy="521208"/>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Khởi tạo K tâm cụm (Centroid) ngẫu nhiên</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1" name="Shape 10"/>
          <p:cNvSpPr/>
          <p:nvPr/>
        </p:nvSpPr>
        <p:spPr>
          <a:xfrm>
            <a:off x="1303020" y="5390261"/>
            <a:ext cx="438912" cy="438912"/>
          </a:xfrm>
          <a:prstGeom prst="ellipse">
            <a:avLst/>
          </a:prstGeom>
          <a:solidFill>
            <a:srgbClr val="E08E1D"/>
          </a:solidFill>
        </p:spPr>
      </p:sp>
      <p:sp>
        <p:nvSpPr>
          <p:cNvPr id="142" name="Text 11"/>
          <p:cNvSpPr/>
          <p:nvPr/>
        </p:nvSpPr>
        <p:spPr>
          <a:xfrm>
            <a:off x="1303020" y="5390261"/>
            <a:ext cx="438912" cy="438912"/>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2</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3" name="Text 12"/>
          <p:cNvSpPr/>
          <p:nvPr/>
        </p:nvSpPr>
        <p:spPr>
          <a:xfrm>
            <a:off x="1920240" y="5349113"/>
            <a:ext cx="8366760" cy="521208"/>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Tính khoảng cách Euclid từ dữ liệu đến tâm cụm</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4" name="Shape 13"/>
          <p:cNvSpPr/>
          <p:nvPr/>
        </p:nvSpPr>
        <p:spPr>
          <a:xfrm>
            <a:off x="1303020" y="6021197"/>
            <a:ext cx="438912" cy="438912"/>
          </a:xfrm>
          <a:prstGeom prst="ellipse">
            <a:avLst/>
          </a:prstGeom>
          <a:solidFill>
            <a:srgbClr val="E08E1D"/>
          </a:solidFill>
        </p:spPr>
      </p:sp>
      <p:sp>
        <p:nvSpPr>
          <p:cNvPr id="145" name="Text 14"/>
          <p:cNvSpPr/>
          <p:nvPr/>
        </p:nvSpPr>
        <p:spPr>
          <a:xfrm>
            <a:off x="1303020" y="6021197"/>
            <a:ext cx="438912" cy="438912"/>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3</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6" name="Text 15"/>
          <p:cNvSpPr/>
          <p:nvPr/>
        </p:nvSpPr>
        <p:spPr>
          <a:xfrm>
            <a:off x="1920240" y="5980049"/>
            <a:ext cx="8366760" cy="521208"/>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Gán mỗi điểm dữ liệu vào cụm gần nhất</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7" name="Shape 16"/>
          <p:cNvSpPr/>
          <p:nvPr/>
        </p:nvSpPr>
        <p:spPr>
          <a:xfrm>
            <a:off x="1303020" y="6652133"/>
            <a:ext cx="438912" cy="438912"/>
          </a:xfrm>
          <a:prstGeom prst="ellipse">
            <a:avLst/>
          </a:prstGeom>
          <a:solidFill>
            <a:srgbClr val="E08E1D"/>
          </a:solidFill>
        </p:spPr>
      </p:sp>
      <p:sp>
        <p:nvSpPr>
          <p:cNvPr id="148" name="Text 17"/>
          <p:cNvSpPr/>
          <p:nvPr/>
        </p:nvSpPr>
        <p:spPr>
          <a:xfrm>
            <a:off x="1303020" y="6652133"/>
            <a:ext cx="438912" cy="438912"/>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4</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9" name="Text 18"/>
          <p:cNvSpPr/>
          <p:nvPr/>
        </p:nvSpPr>
        <p:spPr>
          <a:xfrm>
            <a:off x="1920240" y="6610985"/>
            <a:ext cx="8366760" cy="521208"/>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Cập nhật lại tâm cụm theo giá trị trung bình</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0" name="Shape 19"/>
          <p:cNvSpPr/>
          <p:nvPr/>
        </p:nvSpPr>
        <p:spPr>
          <a:xfrm>
            <a:off x="1303020" y="7283069"/>
            <a:ext cx="438912" cy="438912"/>
          </a:xfrm>
          <a:prstGeom prst="ellipse">
            <a:avLst/>
          </a:prstGeom>
          <a:solidFill>
            <a:srgbClr val="E08E1D"/>
          </a:solidFill>
        </p:spPr>
      </p:sp>
      <p:sp>
        <p:nvSpPr>
          <p:cNvPr id="151" name="Text 20"/>
          <p:cNvSpPr/>
          <p:nvPr/>
        </p:nvSpPr>
        <p:spPr>
          <a:xfrm>
            <a:off x="1303020" y="7283069"/>
            <a:ext cx="438912" cy="438912"/>
          </a:xfrm>
          <a:prstGeom prst="rect">
            <a:avLst/>
          </a:prstGeom>
          <a:noFill/>
        </p:spPr>
        <p:txBody>
          <a:bodyPr wrap="square" lIns="0" tIns="0" rIns="0" bIns="0" rtlCol="0" anchor="ctr"/>
          <a:lstStyle/>
          <a:p>
            <a:pPr marL="0" indent="0" algn="ctr">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5</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2" name="Text 21"/>
          <p:cNvSpPr/>
          <p:nvPr/>
        </p:nvSpPr>
        <p:spPr>
          <a:xfrm>
            <a:off x="1920240" y="7241921"/>
            <a:ext cx="8366760" cy="521208"/>
          </a:xfrm>
          <a:prstGeom prst="rect">
            <a:avLst/>
          </a:prstGeom>
          <a:noFill/>
        </p:spPr>
        <p:txBody>
          <a:bodyPr wrap="square" lIns="0" tIns="0" rIns="0" bIns="0" rtlCol="0" anchor="ctr"/>
          <a:lstStyle/>
          <a:p>
            <a:pPr marL="0" indent="0">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Lặp lại đến khi các tâm cụm hội tụ</a:t>
            </a: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3" name="Text 22"/>
          <p:cNvSpPr/>
          <p:nvPr/>
        </p:nvSpPr>
        <p:spPr>
          <a:xfrm>
            <a:off x="1295400" y="8267700"/>
            <a:ext cx="8778240" cy="685800"/>
          </a:xfrm>
          <a:prstGeom prst="rect">
            <a:avLst/>
          </a:prstGeom>
          <a:noFill/>
        </p:spPr>
        <p:txBody>
          <a:bodyPr wrap="square" lIns="0" tIns="0" rIns="0" bIns="0" rtlCol="0" anchor="ctr"/>
          <a:lstStyle/>
          <a:p>
            <a:pPr marL="0" indent="0">
              <a:lnSpc>
                <a:spcPct val="115000"/>
              </a:lnSpc>
              <a:spcBef>
                <a:spcPts val="0"/>
              </a:spcBef>
              <a:spcAft>
                <a:spcPts val="0"/>
              </a:spcAft>
              <a:buNone/>
            </a:pPr>
            <a:r>
              <a:rPr lang="vi-VN" altLang="en-US" sz="2600" i="1"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2600" i="1" dirty="0">
                <a:solidFill>
                  <a:schemeClr val="tx1"/>
                </a:solidFill>
                <a:latin typeface="Times New Roman" panose="02020603050405020304" charset="0"/>
                <a:ea typeface="Calibri" panose="020F0502020204030204" pitchFamily="34" charset="-122"/>
                <a:cs typeface="Times New Roman" panose="02020603050405020304" charset="0"/>
              </a:rPr>
              <a:t>Hàm mục tiêu: tối thiểu hóa tổng bình phương khoảng cách Euclid từ mỗi điểm dữ liệu đến tâm cụm tương ứng (within-cluster sum of squares).</a:t>
            </a:r>
            <a:endParaRPr lang="en-US" sz="2600" i="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4" name="Shape 23"/>
          <p:cNvSpPr/>
          <p:nvPr/>
        </p:nvSpPr>
        <p:spPr>
          <a:xfrm>
            <a:off x="10904220" y="2016125"/>
            <a:ext cx="6515100" cy="6720840"/>
          </a:xfrm>
          <a:prstGeom prst="roundRect">
            <a:avLst>
              <a:gd name="adj" fmla="val 1684"/>
            </a:avLst>
          </a:prstGeom>
          <a:solidFill>
            <a:srgbClr val="F7F5F3"/>
          </a:solidFill>
          <a:ln w="9525">
            <a:solidFill>
              <a:srgbClr val="E7E1DC"/>
            </a:solidFill>
            <a:prstDash val="solid"/>
          </a:ln>
          <a:effectLst>
            <a:outerShdw blurRad="101600" dist="38100" dir="5400000" algn="bl" rotWithShape="0">
              <a:srgbClr val="000000">
                <a:alpha val="8000"/>
              </a:srgbClr>
            </a:outerShdw>
          </a:effectLst>
        </p:spPr>
      </p:sp>
      <p:sp>
        <p:nvSpPr>
          <p:cNvPr id="155" name="Shape 24"/>
          <p:cNvSpPr/>
          <p:nvPr/>
        </p:nvSpPr>
        <p:spPr>
          <a:xfrm>
            <a:off x="11109960" y="2095500"/>
            <a:ext cx="685800" cy="685800"/>
          </a:xfrm>
          <a:prstGeom prst="ellipse">
            <a:avLst/>
          </a:prstGeom>
          <a:solidFill>
            <a:srgbClr val="E08E1D"/>
          </a:solidFill>
        </p:spPr>
      </p:sp>
      <p:pic>
        <p:nvPicPr>
          <p:cNvPr id="156" name="Image 1" descr="preencoded.png"/>
          <p:cNvPicPr>
            <a:picLocks noChangeAspect="1"/>
          </p:cNvPicPr>
          <p:nvPr/>
        </p:nvPicPr>
        <p:blipFill>
          <a:blip r:embed="rId2"/>
          <a:stretch>
            <a:fillRect/>
          </a:stretch>
        </p:blipFill>
        <p:spPr>
          <a:xfrm>
            <a:off x="11264265" y="2249805"/>
            <a:ext cx="377190" cy="377190"/>
          </a:xfrm>
          <a:prstGeom prst="rect">
            <a:avLst/>
          </a:prstGeom>
        </p:spPr>
      </p:pic>
      <p:sp>
        <p:nvSpPr>
          <p:cNvPr id="157" name="Text 25"/>
          <p:cNvSpPr/>
          <p:nvPr/>
        </p:nvSpPr>
        <p:spPr>
          <a:xfrm>
            <a:off x="12001500" y="2095500"/>
            <a:ext cx="5074920" cy="68580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Ứng dụng trong đề tài</a:t>
            </a:r>
            <a:endParaRPr lang="en-US"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158" name="Text 26"/>
          <p:cNvSpPr/>
          <p:nvPr/>
        </p:nvSpPr>
        <p:spPr>
          <a:xfrm>
            <a:off x="11315700" y="3010027"/>
            <a:ext cx="5760720" cy="548640"/>
          </a:xfrm>
          <a:prstGeom prst="rect">
            <a:avLst/>
          </a:prstGeom>
          <a:noFill/>
        </p:spPr>
        <p:txBody>
          <a:bodyPr wrap="square" lIns="0" tIns="0" rIns="0" bIns="0" rtlCol="0" anchor="ctr"/>
          <a:lstStyle/>
          <a:p>
            <a:pPr marL="0" indent="0">
              <a:lnSpc>
                <a:spcPct val="115000"/>
              </a:lnSpc>
              <a:spcBef>
                <a:spcPts val="0"/>
              </a:spcBef>
              <a:spcAft>
                <a:spcPts val="0"/>
              </a:spcAft>
              <a:buNone/>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Phân nhóm các bang của Hoa Kỳ dựa trên 2 đặc trưng:</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59" name="Text 27"/>
          <p:cNvSpPr/>
          <p:nvPr/>
        </p:nvSpPr>
        <p:spPr>
          <a:xfrm>
            <a:off x="11247120" y="3894963"/>
            <a:ext cx="5760720" cy="960120"/>
          </a:xfrm>
          <a:prstGeom prst="rect">
            <a:avLst/>
          </a:prstGeom>
          <a:noFill/>
        </p:spPr>
        <p:txBody>
          <a:bodyPr wrap="square" lIns="0" tIns="0" rIns="0" bIns="0" rtlCol="0" anchor="ctr"/>
          <a:lstStyle/>
          <a:p>
            <a:pPr marL="342900" indent="-342900">
              <a:lnSpc>
                <a:spcPct val="100000"/>
              </a:lnSpc>
              <a:spcAft>
                <a:spcPts val="600"/>
              </a:spcAft>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Số lượng vụ tai nạn (tần suất)</a:t>
            </a:r>
            <a:endParaRPr lang="en-US" sz="2600" dirty="0">
              <a:solidFill>
                <a:schemeClr val="tx1"/>
              </a:solidFill>
              <a:latin typeface="Times New Roman" panose="02020603050405020304" charset="0"/>
              <a:cs typeface="Times New Roman" panose="02020603050405020304" charset="0"/>
            </a:endParaRPr>
          </a:p>
          <a:p>
            <a:pPr marL="342900" indent="-342900">
              <a:lnSpc>
                <a:spcPct val="100000"/>
              </a:lnSpc>
              <a:buSzPct val="100000"/>
              <a:buChar char="•"/>
            </a:pP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Mức độ nghiêm trọng trung bình</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60" name="Text 28"/>
          <p:cNvSpPr/>
          <p:nvPr/>
        </p:nvSpPr>
        <p:spPr>
          <a:xfrm>
            <a:off x="11315700" y="5219573"/>
            <a:ext cx="5486400" cy="411480"/>
          </a:xfrm>
          <a:prstGeom prst="rect">
            <a:avLst/>
          </a:prstGeom>
          <a:noFill/>
        </p:spPr>
        <p:txBody>
          <a:bodyPr wrap="square" lIns="0" tIns="0" rIns="0" bIns="0" rtlCol="0" anchor="ctr"/>
          <a:lstStyle/>
          <a:p>
            <a:pPr marL="0" indent="0">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K = 3 cụm rủi ro:</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61" name="Shape 29"/>
          <p:cNvSpPr/>
          <p:nvPr/>
        </p:nvSpPr>
        <p:spPr>
          <a:xfrm>
            <a:off x="11315700" y="5881370"/>
            <a:ext cx="5692140" cy="685800"/>
          </a:xfrm>
          <a:prstGeom prst="roundRect">
            <a:avLst>
              <a:gd name="adj" fmla="val 12000"/>
            </a:avLst>
          </a:prstGeom>
          <a:solidFill>
            <a:srgbClr val="FFFFFF"/>
          </a:solidFill>
          <a:ln w="9525">
            <a:solidFill>
              <a:srgbClr val="E7E1DC"/>
            </a:solidFill>
            <a:prstDash val="solid"/>
          </a:ln>
        </p:spPr>
      </p:sp>
      <p:sp>
        <p:nvSpPr>
          <p:cNvPr id="162" name="Shape 30"/>
          <p:cNvSpPr/>
          <p:nvPr/>
        </p:nvSpPr>
        <p:spPr>
          <a:xfrm>
            <a:off x="11548872" y="6100826"/>
            <a:ext cx="246888" cy="246888"/>
          </a:xfrm>
          <a:prstGeom prst="ellipse">
            <a:avLst/>
          </a:prstGeom>
          <a:solidFill>
            <a:srgbClr val="E08E1D"/>
          </a:solidFill>
        </p:spPr>
      </p:sp>
      <p:sp>
        <p:nvSpPr>
          <p:cNvPr id="163" name="Text 31"/>
          <p:cNvSpPr/>
          <p:nvPr/>
        </p:nvSpPr>
        <p:spPr>
          <a:xfrm>
            <a:off x="11960352" y="5881370"/>
            <a:ext cx="4800600" cy="685800"/>
          </a:xfrm>
          <a:prstGeom prst="rect">
            <a:avLst/>
          </a:prstGeom>
          <a:noFill/>
        </p:spPr>
        <p:txBody>
          <a:bodyPr wrap="square" lIns="0" tIns="0" rIns="0" bIns="0" rtlCol="0" anchor="ctr"/>
          <a:lstStyle/>
          <a:p>
            <a:pPr marL="0" indent="0">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Rủi ro thấp</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64" name="Shape 32"/>
          <p:cNvSpPr/>
          <p:nvPr/>
        </p:nvSpPr>
        <p:spPr>
          <a:xfrm>
            <a:off x="11315700" y="6731762"/>
            <a:ext cx="5692140" cy="685800"/>
          </a:xfrm>
          <a:prstGeom prst="roundRect">
            <a:avLst>
              <a:gd name="adj" fmla="val 12000"/>
            </a:avLst>
          </a:prstGeom>
          <a:solidFill>
            <a:srgbClr val="FFFFFF"/>
          </a:solidFill>
          <a:ln w="9525">
            <a:solidFill>
              <a:srgbClr val="E7E1DC"/>
            </a:solidFill>
            <a:prstDash val="solid"/>
          </a:ln>
        </p:spPr>
      </p:sp>
      <p:sp>
        <p:nvSpPr>
          <p:cNvPr id="165" name="Shape 33"/>
          <p:cNvSpPr/>
          <p:nvPr/>
        </p:nvSpPr>
        <p:spPr>
          <a:xfrm>
            <a:off x="11548872" y="6951218"/>
            <a:ext cx="246888" cy="246888"/>
          </a:xfrm>
          <a:prstGeom prst="ellipse">
            <a:avLst/>
          </a:prstGeom>
          <a:solidFill>
            <a:srgbClr val="C9601F"/>
          </a:solidFill>
        </p:spPr>
      </p:sp>
      <p:sp>
        <p:nvSpPr>
          <p:cNvPr id="166" name="Text 34"/>
          <p:cNvSpPr/>
          <p:nvPr/>
        </p:nvSpPr>
        <p:spPr>
          <a:xfrm>
            <a:off x="11960352" y="6731762"/>
            <a:ext cx="4800600" cy="685800"/>
          </a:xfrm>
          <a:prstGeom prst="rect">
            <a:avLst/>
          </a:prstGeom>
          <a:noFill/>
        </p:spPr>
        <p:txBody>
          <a:bodyPr wrap="square" lIns="0" tIns="0" rIns="0" bIns="0" rtlCol="0" anchor="ctr"/>
          <a:lstStyle/>
          <a:p>
            <a:pPr marL="0" indent="0">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Rủi ro trung bình</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67" name="Shape 35"/>
          <p:cNvSpPr/>
          <p:nvPr/>
        </p:nvSpPr>
        <p:spPr>
          <a:xfrm>
            <a:off x="11315700" y="7582154"/>
            <a:ext cx="5692140" cy="685800"/>
          </a:xfrm>
          <a:prstGeom prst="roundRect">
            <a:avLst>
              <a:gd name="adj" fmla="val 12000"/>
            </a:avLst>
          </a:prstGeom>
          <a:solidFill>
            <a:srgbClr val="FFFFFF"/>
          </a:solidFill>
          <a:ln w="9525">
            <a:solidFill>
              <a:srgbClr val="E7E1DC"/>
            </a:solidFill>
            <a:prstDash val="solid"/>
          </a:ln>
        </p:spPr>
      </p:sp>
      <p:sp>
        <p:nvSpPr>
          <p:cNvPr id="168" name="Shape 36"/>
          <p:cNvSpPr/>
          <p:nvPr/>
        </p:nvSpPr>
        <p:spPr>
          <a:xfrm>
            <a:off x="11548872" y="7801610"/>
            <a:ext cx="246888" cy="246888"/>
          </a:xfrm>
          <a:prstGeom prst="ellipse">
            <a:avLst/>
          </a:prstGeom>
          <a:solidFill>
            <a:srgbClr val="8B1E2D"/>
          </a:solidFill>
        </p:spPr>
      </p:sp>
      <p:sp>
        <p:nvSpPr>
          <p:cNvPr id="169" name="Text 37"/>
          <p:cNvSpPr/>
          <p:nvPr/>
        </p:nvSpPr>
        <p:spPr>
          <a:xfrm>
            <a:off x="11960352" y="7582154"/>
            <a:ext cx="4800600" cy="685800"/>
          </a:xfrm>
          <a:prstGeom prst="rect">
            <a:avLst/>
          </a:prstGeom>
          <a:noFill/>
        </p:spPr>
        <p:txBody>
          <a:bodyPr wrap="square" lIns="0" tIns="0" rIns="0" bIns="0" rtlCol="0" anchor="ctr"/>
          <a:lstStyle/>
          <a:p>
            <a:pPr marL="0" indent="0">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Rủi ro cao</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73"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5</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46748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sz="2600">
                  <a:solidFill>
                    <a:schemeClr val="tx1"/>
                  </a:solidFill>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sz="2600">
                  <a:solidFill>
                    <a:schemeClr val="tx1"/>
                  </a:solidFill>
                  <a:latin typeface="Times New Roman" panose="02020603050405020304" charset="0"/>
                  <a:cs typeface="Times New Roman" panose="02020603050405020304" charset="0"/>
                </a:endParaRPr>
              </a:p>
            </p:txBody>
          </p:sp>
        </p:grpSp>
      </p:grpSp>
      <p:sp>
        <p:nvSpPr>
          <p:cNvPr id="173"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600" b="1" dirty="0">
                <a:solidFill>
                  <a:srgbClr val="8B1E2D"/>
                </a:solidFill>
                <a:latin typeface="Times New Roman" panose="02020603050405020304" charset="0"/>
                <a:ea typeface="Calibri" panose="020F0502020204030204" pitchFamily="34" charset="-122"/>
                <a:cs typeface="Times New Roman" panose="02020603050405020304" charset="0"/>
              </a:rPr>
              <a:t>6</a:t>
            </a:r>
            <a:endParaRPr lang="vi-VN" alt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9" name="Text 0"/>
          <p:cNvSpPr/>
          <p:nvPr/>
        </p:nvSpPr>
        <p:spPr>
          <a:xfrm>
            <a:off x="822960" y="800227"/>
            <a:ext cx="13716000" cy="438912"/>
          </a:xfrm>
          <a:prstGeom prst="rect">
            <a:avLst/>
          </a:prstGeom>
          <a:noFill/>
        </p:spPr>
        <p:txBody>
          <a:bodyPr wrap="square" lIns="0" tIns="0" rIns="0" bIns="0" rtlCol="0" anchor="ctr"/>
          <a:lstStyle/>
          <a:p>
            <a:pPr marL="0" indent="0">
              <a:buNone/>
            </a:pP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CHƯƠNG 3</a:t>
            </a:r>
            <a:r>
              <a:rPr lang="vi-VN" alt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a:t>
            </a: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 THIẾT KẾ </a:t>
            </a:r>
            <a:r>
              <a:rPr lang="vi-VN" alt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VÀ XÂY DỰNG </a:t>
            </a:r>
            <a:r>
              <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rPr>
              <a:t>HỆ THỐNG</a:t>
            </a:r>
            <a:endParaRPr lang="en-US" sz="4000" b="1" kern="0" spc="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 name="Text 1"/>
          <p:cNvSpPr/>
          <p:nvPr/>
        </p:nvSpPr>
        <p:spPr>
          <a:xfrm>
            <a:off x="838200" y="1257427"/>
            <a:ext cx="16596360" cy="1028700"/>
          </a:xfrm>
          <a:prstGeom prst="rect">
            <a:avLst/>
          </a:prstGeom>
          <a:noFill/>
        </p:spPr>
        <p:txBody>
          <a:bodyPr wrap="square" lIns="0" tIns="0" rIns="0" bIns="0" rtlCol="0" anchor="ctr"/>
          <a:lstStyle/>
          <a:p>
            <a:pPr marL="0" indent="0">
              <a:buNone/>
            </a:pP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Kiến trúc tổng thể </a:t>
            </a:r>
            <a:r>
              <a:rPr lang="vi-VN" altLang="en-US" sz="3600" b="1" dirty="0">
                <a:solidFill>
                  <a:srgbClr val="2B2B2E"/>
                </a:solidFill>
                <a:latin typeface="Times New Roman" panose="02020603050405020304" charset="0"/>
                <a:ea typeface="Cambria" panose="02040503050406030204" pitchFamily="34" charset="-122"/>
                <a:cs typeface="Times New Roman" panose="02020603050405020304" charset="0"/>
              </a:rPr>
              <a:t>và</a:t>
            </a:r>
            <a:r>
              <a:rPr lang="en-US" sz="3600" b="1" dirty="0">
                <a:solidFill>
                  <a:srgbClr val="2B2B2E"/>
                </a:solidFill>
                <a:latin typeface="Times New Roman" panose="02020603050405020304" charset="0"/>
                <a:ea typeface="Cambria" panose="02040503050406030204" pitchFamily="34" charset="-122"/>
                <a:cs typeface="Times New Roman" panose="02020603050405020304" charset="0"/>
              </a:rPr>
              <a:t> quy trình xử lý dữ liệu</a:t>
            </a:r>
            <a:endParaRPr lang="en-US" sz="3600" b="1" dirty="0">
              <a:solidFill>
                <a:srgbClr val="2B2B2E"/>
              </a:solidFill>
              <a:latin typeface="Times New Roman" panose="02020603050405020304" charset="0"/>
              <a:ea typeface="Cambria" panose="02040503050406030204" pitchFamily="34" charset="-122"/>
              <a:cs typeface="Times New Roman" panose="02020603050405020304" charset="0"/>
            </a:endParaRPr>
          </a:p>
        </p:txBody>
      </p:sp>
      <p:sp>
        <p:nvSpPr>
          <p:cNvPr id="12" name="Shape 3"/>
          <p:cNvSpPr/>
          <p:nvPr/>
        </p:nvSpPr>
        <p:spPr>
          <a:xfrm>
            <a:off x="2112010" y="2755900"/>
            <a:ext cx="2651760" cy="2558415"/>
          </a:xfrm>
          <a:prstGeom prst="roundRect">
            <a:avLst>
              <a:gd name="adj" fmla="val 4848"/>
            </a:avLst>
          </a:prstGeom>
          <a:solidFill>
            <a:srgbClr val="F7F5F3"/>
          </a:solidFill>
          <a:ln w="9525">
            <a:solidFill>
              <a:srgbClr val="E7E1DC"/>
            </a:solidFill>
            <a:prstDash val="solid"/>
          </a:ln>
          <a:effectLst>
            <a:outerShdw blurRad="76200" dist="25400" dir="5400000" algn="bl" rotWithShape="0">
              <a:srgbClr val="000000">
                <a:alpha val="8000"/>
              </a:srgbClr>
            </a:outerShdw>
          </a:effectLst>
        </p:spPr>
      </p:sp>
      <p:sp>
        <p:nvSpPr>
          <p:cNvPr id="13" name="Shape 4"/>
          <p:cNvSpPr/>
          <p:nvPr/>
        </p:nvSpPr>
        <p:spPr>
          <a:xfrm>
            <a:off x="3078480" y="3002915"/>
            <a:ext cx="744220" cy="775335"/>
          </a:xfrm>
          <a:prstGeom prst="ellipse">
            <a:avLst/>
          </a:prstGeom>
          <a:solidFill>
            <a:srgbClr val="8B1E2D"/>
          </a:solidFill>
        </p:spPr>
      </p:sp>
      <p:pic>
        <p:nvPicPr>
          <p:cNvPr id="14" name="Image 0" descr="preencoded.png"/>
          <p:cNvPicPr>
            <a:picLocks noChangeAspect="1"/>
          </p:cNvPicPr>
          <p:nvPr/>
        </p:nvPicPr>
        <p:blipFill>
          <a:blip r:embed="rId1"/>
          <a:stretch>
            <a:fillRect/>
          </a:stretch>
        </p:blipFill>
        <p:spPr>
          <a:xfrm>
            <a:off x="3232785" y="3157220"/>
            <a:ext cx="409575" cy="425450"/>
          </a:xfrm>
          <a:prstGeom prst="rect">
            <a:avLst/>
          </a:prstGeom>
        </p:spPr>
      </p:pic>
      <p:sp>
        <p:nvSpPr>
          <p:cNvPr id="15" name="Text 5"/>
          <p:cNvSpPr/>
          <p:nvPr/>
        </p:nvSpPr>
        <p:spPr>
          <a:xfrm>
            <a:off x="2180590" y="3825875"/>
            <a:ext cx="2501900" cy="1162685"/>
          </a:xfrm>
          <a:prstGeom prst="rect">
            <a:avLst/>
          </a:prstGeom>
          <a:noFill/>
        </p:spPr>
        <p:txBody>
          <a:bodyPr wrap="square" lIns="0" tIns="0" rIns="0" bIns="0" rtlCol="0" anchor="ctr"/>
          <a:lstStyle/>
          <a:p>
            <a:pPr marL="0" indent="0" algn="ctr">
              <a:lnSpc>
                <a:spcPct val="115000"/>
              </a:lnSpc>
              <a:spcBef>
                <a:spcPts val="0"/>
              </a:spcBef>
              <a:spcAft>
                <a:spcPts val="0"/>
              </a:spcAft>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Thu thập</a:t>
            </a:r>
            <a:endParaRPr lang="en-US" sz="2600" dirty="0">
              <a:solidFill>
                <a:schemeClr val="tx1"/>
              </a:solidFill>
              <a:latin typeface="Times New Roman" panose="02020603050405020304" charset="0"/>
              <a:cs typeface="Times New Roman" panose="02020603050405020304" charset="0"/>
            </a:endParaRPr>
          </a:p>
          <a:p>
            <a:pPr marL="0" indent="0" algn="ctr">
              <a:lnSpc>
                <a:spcPct val="115000"/>
              </a:lnSpc>
              <a:spcBef>
                <a:spcPts val="0"/>
              </a:spcBef>
              <a:spcAft>
                <a:spcPts val="0"/>
              </a:spcAft>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rPr>
              <a:t>dữ liệu</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6" name="Text 6"/>
          <p:cNvSpPr/>
          <p:nvPr/>
        </p:nvSpPr>
        <p:spPr>
          <a:xfrm>
            <a:off x="2097405" y="2508885"/>
            <a:ext cx="551180" cy="554990"/>
          </a:xfrm>
          <a:prstGeom prst="rect">
            <a:avLst/>
          </a:prstGeom>
          <a:noFill/>
        </p:spPr>
        <p:txBody>
          <a:bodyPr wrap="square" lIns="0" tIns="0" rIns="0" bIns="0" rtlCol="0" anchor="ctr"/>
          <a:lstStyle/>
          <a:p>
            <a:pPr marL="0" indent="0" algn="l">
              <a:buNone/>
            </a:pPr>
            <a:r>
              <a:rPr lang="en-US" sz="2600" b="1" dirty="0">
                <a:solidFill>
                  <a:srgbClr val="8B1E2D"/>
                </a:solidFill>
                <a:latin typeface="Times New Roman" panose="02020603050405020304" charset="0"/>
                <a:ea typeface="Calibri" panose="020F0502020204030204" pitchFamily="34" charset="-122"/>
                <a:cs typeface="Times New Roman" panose="02020603050405020304" charset="0"/>
              </a:rPr>
              <a:t>1</a:t>
            </a:r>
            <a:endParaRPr 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17" name="Shape 7"/>
          <p:cNvSpPr/>
          <p:nvPr/>
        </p:nvSpPr>
        <p:spPr>
          <a:xfrm>
            <a:off x="4942840" y="2755900"/>
            <a:ext cx="2651760" cy="2558415"/>
          </a:xfrm>
          <a:prstGeom prst="roundRect">
            <a:avLst>
              <a:gd name="adj" fmla="val 4848"/>
            </a:avLst>
          </a:prstGeom>
          <a:solidFill>
            <a:srgbClr val="F7F5F3"/>
          </a:solidFill>
          <a:ln w="9525">
            <a:solidFill>
              <a:srgbClr val="E7E1DC"/>
            </a:solidFill>
            <a:prstDash val="solid"/>
          </a:ln>
          <a:effectLst>
            <a:outerShdw blurRad="76200" dist="25400" dir="5400000" algn="bl" rotWithShape="0">
              <a:srgbClr val="000000">
                <a:alpha val="8000"/>
              </a:srgbClr>
            </a:outerShdw>
          </a:effectLst>
        </p:spPr>
      </p:sp>
      <p:sp>
        <p:nvSpPr>
          <p:cNvPr id="18" name="Shape 8"/>
          <p:cNvSpPr/>
          <p:nvPr/>
        </p:nvSpPr>
        <p:spPr>
          <a:xfrm>
            <a:off x="5909945" y="3002915"/>
            <a:ext cx="744220" cy="775335"/>
          </a:xfrm>
          <a:prstGeom prst="ellipse">
            <a:avLst/>
          </a:prstGeom>
          <a:solidFill>
            <a:srgbClr val="8B1E2D"/>
          </a:solidFill>
        </p:spPr>
      </p:sp>
      <p:pic>
        <p:nvPicPr>
          <p:cNvPr id="19" name="Image 1" descr="preencoded.png"/>
          <p:cNvPicPr>
            <a:picLocks noChangeAspect="1"/>
          </p:cNvPicPr>
          <p:nvPr/>
        </p:nvPicPr>
        <p:blipFill>
          <a:blip r:embed="rId2"/>
          <a:stretch>
            <a:fillRect/>
          </a:stretch>
        </p:blipFill>
        <p:spPr>
          <a:xfrm>
            <a:off x="6064250" y="3157220"/>
            <a:ext cx="409575" cy="425450"/>
          </a:xfrm>
          <a:prstGeom prst="rect">
            <a:avLst/>
          </a:prstGeom>
        </p:spPr>
      </p:pic>
      <p:sp>
        <p:nvSpPr>
          <p:cNvPr id="20" name="Text 9"/>
          <p:cNvSpPr/>
          <p:nvPr/>
        </p:nvSpPr>
        <p:spPr>
          <a:xfrm>
            <a:off x="5011420" y="3825875"/>
            <a:ext cx="2501900" cy="1162685"/>
          </a:xfrm>
          <a:prstGeom prst="rect">
            <a:avLst/>
          </a:prstGeom>
          <a:noFill/>
        </p:spPr>
        <p:txBody>
          <a:bodyPr wrap="square" lIns="0" tIns="0" rIns="0" bIns="0" rtlCol="0" anchor="ctr"/>
          <a:lstStyle/>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Tiền xử lý</a:t>
            </a:r>
            <a:endParaRPr lang="en-US" sz="2600" dirty="0">
              <a:latin typeface="Times New Roman" panose="02020603050405020304" charset="0"/>
              <a:cs typeface="Times New Roman" panose="02020603050405020304" charset="0"/>
            </a:endParaRPr>
          </a:p>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dữ liệu</a:t>
            </a:r>
            <a:endParaRPr lang="en-US" sz="2600" dirty="0">
              <a:latin typeface="Times New Roman" panose="02020603050405020304" charset="0"/>
              <a:cs typeface="Times New Roman" panose="02020603050405020304" charset="0"/>
            </a:endParaRPr>
          </a:p>
        </p:txBody>
      </p:sp>
      <p:sp>
        <p:nvSpPr>
          <p:cNvPr id="21" name="Text 10"/>
          <p:cNvSpPr/>
          <p:nvPr/>
        </p:nvSpPr>
        <p:spPr>
          <a:xfrm>
            <a:off x="4915535" y="2508885"/>
            <a:ext cx="595630" cy="619760"/>
          </a:xfrm>
          <a:prstGeom prst="rect">
            <a:avLst/>
          </a:prstGeom>
          <a:noFill/>
        </p:spPr>
        <p:txBody>
          <a:bodyPr wrap="square" lIns="0" tIns="0" rIns="0" bIns="0" rtlCol="0" anchor="ctr"/>
          <a:lstStyle/>
          <a:p>
            <a:pPr marL="0" indent="0" algn="l">
              <a:buNone/>
            </a:pPr>
            <a:r>
              <a:rPr lang="en-US" sz="2600" b="1" dirty="0">
                <a:solidFill>
                  <a:srgbClr val="8B1E2D"/>
                </a:solidFill>
                <a:latin typeface="Times New Roman" panose="02020603050405020304" charset="0"/>
                <a:ea typeface="Calibri" panose="020F0502020204030204" pitchFamily="34" charset="-122"/>
                <a:cs typeface="Times New Roman" panose="02020603050405020304" charset="0"/>
              </a:rPr>
              <a:t>2</a:t>
            </a:r>
            <a:endParaRPr 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22" name="Shape 11"/>
          <p:cNvSpPr/>
          <p:nvPr/>
        </p:nvSpPr>
        <p:spPr>
          <a:xfrm>
            <a:off x="7773670" y="2755900"/>
            <a:ext cx="2651760" cy="2558415"/>
          </a:xfrm>
          <a:prstGeom prst="roundRect">
            <a:avLst>
              <a:gd name="adj" fmla="val 4848"/>
            </a:avLst>
          </a:prstGeom>
          <a:solidFill>
            <a:srgbClr val="F7F5F3"/>
          </a:solidFill>
          <a:ln w="9525">
            <a:solidFill>
              <a:srgbClr val="E7E1DC"/>
            </a:solidFill>
            <a:prstDash val="solid"/>
          </a:ln>
          <a:effectLst>
            <a:outerShdw blurRad="76200" dist="25400" dir="5400000" algn="bl" rotWithShape="0">
              <a:srgbClr val="000000">
                <a:alpha val="8000"/>
              </a:srgbClr>
            </a:outerShdw>
          </a:effectLst>
        </p:spPr>
      </p:sp>
      <p:sp>
        <p:nvSpPr>
          <p:cNvPr id="23" name="Shape 12"/>
          <p:cNvSpPr/>
          <p:nvPr/>
        </p:nvSpPr>
        <p:spPr>
          <a:xfrm>
            <a:off x="8740775" y="3002915"/>
            <a:ext cx="744220" cy="775335"/>
          </a:xfrm>
          <a:prstGeom prst="ellipse">
            <a:avLst/>
          </a:prstGeom>
          <a:solidFill>
            <a:srgbClr val="8B1E2D"/>
          </a:solidFill>
        </p:spPr>
      </p:sp>
      <p:pic>
        <p:nvPicPr>
          <p:cNvPr id="24" name="Image 2" descr="preencoded.png"/>
          <p:cNvPicPr>
            <a:picLocks noChangeAspect="1"/>
          </p:cNvPicPr>
          <p:nvPr/>
        </p:nvPicPr>
        <p:blipFill>
          <a:blip r:embed="rId3"/>
          <a:stretch>
            <a:fillRect/>
          </a:stretch>
        </p:blipFill>
        <p:spPr>
          <a:xfrm>
            <a:off x="8895080" y="3157220"/>
            <a:ext cx="409575" cy="425450"/>
          </a:xfrm>
          <a:prstGeom prst="rect">
            <a:avLst/>
          </a:prstGeom>
        </p:spPr>
      </p:pic>
      <p:sp>
        <p:nvSpPr>
          <p:cNvPr id="25" name="Text 13"/>
          <p:cNvSpPr/>
          <p:nvPr/>
        </p:nvSpPr>
        <p:spPr>
          <a:xfrm>
            <a:off x="7801610" y="3825875"/>
            <a:ext cx="2597785" cy="1162685"/>
          </a:xfrm>
          <a:prstGeom prst="rect">
            <a:avLst/>
          </a:prstGeom>
          <a:noFill/>
        </p:spPr>
        <p:txBody>
          <a:bodyPr wrap="square" lIns="0" tIns="0" rIns="0" bIns="0" rtlCol="0" anchor="ctr"/>
          <a:lstStyle/>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Phân tích</a:t>
            </a:r>
            <a:endParaRPr lang="en-US" sz="2600" dirty="0">
              <a:latin typeface="Times New Roman" panose="02020603050405020304" charset="0"/>
              <a:cs typeface="Times New Roman" panose="02020603050405020304" charset="0"/>
            </a:endParaRPr>
          </a:p>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khám phá (EDA)</a:t>
            </a:r>
            <a:endParaRPr lang="en-US" sz="2600" dirty="0">
              <a:latin typeface="Times New Roman" panose="02020603050405020304" charset="0"/>
              <a:cs typeface="Times New Roman" panose="02020603050405020304" charset="0"/>
            </a:endParaRPr>
          </a:p>
        </p:txBody>
      </p:sp>
      <p:sp>
        <p:nvSpPr>
          <p:cNvPr id="26" name="Text 14"/>
          <p:cNvSpPr/>
          <p:nvPr/>
        </p:nvSpPr>
        <p:spPr>
          <a:xfrm>
            <a:off x="7746365" y="2508885"/>
            <a:ext cx="595630" cy="619760"/>
          </a:xfrm>
          <a:prstGeom prst="rect">
            <a:avLst/>
          </a:prstGeom>
          <a:noFill/>
        </p:spPr>
        <p:txBody>
          <a:bodyPr wrap="square" lIns="0" tIns="0" rIns="0" bIns="0" rtlCol="0" anchor="ctr"/>
          <a:lstStyle/>
          <a:p>
            <a:pPr marL="0" indent="0" algn="l">
              <a:buNone/>
            </a:pPr>
            <a:r>
              <a:rPr lang="en-US" sz="2600" b="1" dirty="0">
                <a:solidFill>
                  <a:srgbClr val="8B1E2D"/>
                </a:solidFill>
                <a:latin typeface="Times New Roman" panose="02020603050405020304" charset="0"/>
                <a:ea typeface="Calibri" panose="020F0502020204030204" pitchFamily="34" charset="-122"/>
                <a:cs typeface="Times New Roman" panose="02020603050405020304" charset="0"/>
              </a:rPr>
              <a:t>3</a:t>
            </a:r>
            <a:endParaRPr 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27" name="Shape 15"/>
          <p:cNvSpPr/>
          <p:nvPr/>
        </p:nvSpPr>
        <p:spPr>
          <a:xfrm>
            <a:off x="10605135" y="2755900"/>
            <a:ext cx="2651760" cy="2558415"/>
          </a:xfrm>
          <a:prstGeom prst="roundRect">
            <a:avLst>
              <a:gd name="adj" fmla="val 4848"/>
            </a:avLst>
          </a:prstGeom>
          <a:solidFill>
            <a:srgbClr val="F7F5F3"/>
          </a:solidFill>
          <a:ln w="9525">
            <a:solidFill>
              <a:srgbClr val="E7E1DC"/>
            </a:solidFill>
            <a:prstDash val="solid"/>
          </a:ln>
          <a:effectLst>
            <a:outerShdw blurRad="76200" dist="25400" dir="5400000" algn="bl" rotWithShape="0">
              <a:srgbClr val="000000">
                <a:alpha val="8000"/>
              </a:srgbClr>
            </a:outerShdw>
          </a:effectLst>
        </p:spPr>
      </p:sp>
      <p:sp>
        <p:nvSpPr>
          <p:cNvPr id="28" name="Shape 16"/>
          <p:cNvSpPr/>
          <p:nvPr/>
        </p:nvSpPr>
        <p:spPr>
          <a:xfrm>
            <a:off x="11571605" y="3002915"/>
            <a:ext cx="744220" cy="775335"/>
          </a:xfrm>
          <a:prstGeom prst="ellipse">
            <a:avLst/>
          </a:prstGeom>
          <a:solidFill>
            <a:srgbClr val="8B1E2D"/>
          </a:solidFill>
        </p:spPr>
      </p:sp>
      <p:pic>
        <p:nvPicPr>
          <p:cNvPr id="29" name="Image 3" descr="preencoded.png"/>
          <p:cNvPicPr>
            <a:picLocks noChangeAspect="1"/>
          </p:cNvPicPr>
          <p:nvPr/>
        </p:nvPicPr>
        <p:blipFill>
          <a:blip r:embed="rId4"/>
          <a:stretch>
            <a:fillRect/>
          </a:stretch>
        </p:blipFill>
        <p:spPr>
          <a:xfrm>
            <a:off x="11725910" y="3157220"/>
            <a:ext cx="409575" cy="425450"/>
          </a:xfrm>
          <a:prstGeom prst="rect">
            <a:avLst/>
          </a:prstGeom>
        </p:spPr>
      </p:pic>
      <p:sp>
        <p:nvSpPr>
          <p:cNvPr id="30" name="Text 17"/>
          <p:cNvSpPr/>
          <p:nvPr/>
        </p:nvSpPr>
        <p:spPr>
          <a:xfrm>
            <a:off x="10604500" y="3825875"/>
            <a:ext cx="2635250" cy="1162685"/>
          </a:xfrm>
          <a:prstGeom prst="rect">
            <a:avLst/>
          </a:prstGeom>
          <a:noFill/>
        </p:spPr>
        <p:txBody>
          <a:bodyPr wrap="square" lIns="0" tIns="0" rIns="0" bIns="0" rtlCol="0" anchor="ctr"/>
          <a:lstStyle/>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Xây dựng</a:t>
            </a:r>
            <a:endParaRPr lang="en-US" sz="2600" dirty="0">
              <a:latin typeface="Times New Roman" panose="02020603050405020304" charset="0"/>
              <a:cs typeface="Times New Roman" panose="02020603050405020304" charset="0"/>
            </a:endParaRPr>
          </a:p>
          <a:p>
            <a:pPr marL="0" indent="0" algn="ctr">
              <a:lnSpc>
                <a:spcPct val="115000"/>
              </a:lnSpc>
              <a:spcBef>
                <a:spcPts val="0"/>
              </a:spcBef>
              <a:spcAft>
                <a:spcPts val="0"/>
              </a:spcAft>
              <a:buNone/>
            </a:pPr>
            <a:r>
              <a:rPr lang="en-US" sz="2600" b="1" dirty="0">
                <a:solidFill>
                  <a:srgbClr val="2B2B2E"/>
                </a:solidFill>
                <a:latin typeface="Times New Roman" panose="02020603050405020304" charset="0"/>
                <a:ea typeface="Calibri" panose="020F0502020204030204" pitchFamily="34" charset="-122"/>
                <a:cs typeface="Times New Roman" panose="02020603050405020304" charset="0"/>
              </a:rPr>
              <a:t>mô hình dự đoán</a:t>
            </a:r>
            <a:r>
              <a:rPr lang="vi-VN" altLang="en-US" sz="2600" b="1" dirty="0">
                <a:solidFill>
                  <a:srgbClr val="2B2B2E"/>
                </a:solidFill>
                <a:latin typeface="Times New Roman" panose="02020603050405020304" charset="0"/>
                <a:ea typeface="Calibri" panose="020F0502020204030204" pitchFamily="34" charset="-122"/>
                <a:cs typeface="Times New Roman" panose="02020603050405020304" charset="0"/>
              </a:rPr>
              <a:t> + phân cụm rủi </a:t>
            </a:r>
            <a:r>
              <a:rPr lang="vi-VN" altLang="en-US" sz="2600" b="1" dirty="0">
                <a:solidFill>
                  <a:srgbClr val="2B2B2E"/>
                </a:solidFill>
                <a:latin typeface="Times New Roman" panose="02020603050405020304" charset="0"/>
                <a:ea typeface="Calibri" panose="020F0502020204030204" pitchFamily="34" charset="-122"/>
                <a:cs typeface="Times New Roman" panose="02020603050405020304" charset="0"/>
              </a:rPr>
              <a:t>ro</a:t>
            </a:r>
            <a:endParaRPr lang="vi-VN" altLang="en-US" sz="2600" b="1" dirty="0">
              <a:solidFill>
                <a:srgbClr val="2B2B2E"/>
              </a:solidFill>
              <a:latin typeface="Times New Roman" panose="02020603050405020304" charset="0"/>
              <a:ea typeface="Calibri" panose="020F0502020204030204" pitchFamily="34" charset="-122"/>
              <a:cs typeface="Times New Roman" panose="02020603050405020304" charset="0"/>
            </a:endParaRPr>
          </a:p>
        </p:txBody>
      </p:sp>
      <p:sp>
        <p:nvSpPr>
          <p:cNvPr id="31" name="Text 18"/>
          <p:cNvSpPr/>
          <p:nvPr/>
        </p:nvSpPr>
        <p:spPr>
          <a:xfrm>
            <a:off x="10577830" y="2508885"/>
            <a:ext cx="595630" cy="619760"/>
          </a:xfrm>
          <a:prstGeom prst="rect">
            <a:avLst/>
          </a:prstGeom>
          <a:noFill/>
        </p:spPr>
        <p:txBody>
          <a:bodyPr wrap="square" lIns="0" tIns="0" rIns="0" bIns="0" rtlCol="0" anchor="ctr"/>
          <a:lstStyle/>
          <a:p>
            <a:pPr marL="0" indent="0" algn="l">
              <a:buNone/>
            </a:pPr>
            <a:r>
              <a:rPr lang="en-US" sz="2600" b="1" dirty="0">
                <a:solidFill>
                  <a:srgbClr val="8B1E2D"/>
                </a:solidFill>
                <a:latin typeface="Times New Roman" panose="02020603050405020304" charset="0"/>
                <a:ea typeface="Calibri" panose="020F0502020204030204" pitchFamily="34" charset="-122"/>
                <a:cs typeface="Times New Roman" panose="02020603050405020304" charset="0"/>
              </a:rPr>
              <a:t>4</a:t>
            </a:r>
            <a:endParaRPr 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32" name="Shape 19"/>
          <p:cNvSpPr/>
          <p:nvPr/>
        </p:nvSpPr>
        <p:spPr>
          <a:xfrm>
            <a:off x="13435965" y="2755900"/>
            <a:ext cx="2651760" cy="2558415"/>
          </a:xfrm>
          <a:prstGeom prst="roundRect">
            <a:avLst>
              <a:gd name="adj" fmla="val 4848"/>
            </a:avLst>
          </a:prstGeom>
          <a:solidFill>
            <a:srgbClr val="F7F5F3"/>
          </a:solidFill>
          <a:ln w="9525">
            <a:solidFill>
              <a:srgbClr val="E7E1DC"/>
            </a:solidFill>
            <a:prstDash val="solid"/>
          </a:ln>
          <a:effectLst>
            <a:outerShdw blurRad="76200" dist="25400" dir="5400000" algn="bl" rotWithShape="0">
              <a:srgbClr val="000000">
                <a:alpha val="8000"/>
              </a:srgbClr>
            </a:outerShdw>
          </a:effectLst>
        </p:spPr>
      </p:sp>
      <p:sp>
        <p:nvSpPr>
          <p:cNvPr id="33" name="Shape 20"/>
          <p:cNvSpPr/>
          <p:nvPr/>
        </p:nvSpPr>
        <p:spPr>
          <a:xfrm>
            <a:off x="14402435" y="3002915"/>
            <a:ext cx="744220" cy="775335"/>
          </a:xfrm>
          <a:prstGeom prst="ellipse">
            <a:avLst/>
          </a:prstGeom>
          <a:solidFill>
            <a:srgbClr val="8B1E2D"/>
          </a:solidFill>
        </p:spPr>
      </p:sp>
      <p:pic>
        <p:nvPicPr>
          <p:cNvPr id="34" name="Image 4" descr="preencoded.png"/>
          <p:cNvPicPr>
            <a:picLocks noChangeAspect="1"/>
          </p:cNvPicPr>
          <p:nvPr/>
        </p:nvPicPr>
        <p:blipFill>
          <a:blip r:embed="rId5"/>
          <a:stretch>
            <a:fillRect/>
          </a:stretch>
        </p:blipFill>
        <p:spPr>
          <a:xfrm>
            <a:off x="14556740" y="3157220"/>
            <a:ext cx="409575" cy="425450"/>
          </a:xfrm>
          <a:prstGeom prst="rect">
            <a:avLst/>
          </a:prstGeom>
        </p:spPr>
      </p:pic>
      <p:sp>
        <p:nvSpPr>
          <p:cNvPr id="35" name="Text 21"/>
          <p:cNvSpPr/>
          <p:nvPr/>
        </p:nvSpPr>
        <p:spPr>
          <a:xfrm>
            <a:off x="13462635" y="3825875"/>
            <a:ext cx="2597150" cy="1162685"/>
          </a:xfrm>
          <a:prstGeom prst="rect">
            <a:avLst/>
          </a:prstGeom>
          <a:noFill/>
        </p:spPr>
        <p:txBody>
          <a:bodyPr wrap="square" lIns="0" tIns="0" rIns="0" bIns="0" rtlCol="0" anchor="ctr"/>
          <a:lstStyle/>
          <a:p>
            <a:pPr marL="0" indent="0" algn="ctr">
              <a:lnSpc>
                <a:spcPct val="115000"/>
              </a:lnSpc>
              <a:spcBef>
                <a:spcPts val="0"/>
              </a:spcBef>
              <a:spcAft>
                <a:spcPts val="0"/>
              </a:spcAft>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sym typeface="+mn-ea"/>
              </a:rPr>
              <a:t>Trực quan hóa </a:t>
            </a:r>
            <a:r>
              <a:rPr lang="vi-VN" altLang="en-US" sz="2600" b="1" dirty="0">
                <a:solidFill>
                  <a:schemeClr val="tx1"/>
                </a:solidFill>
                <a:latin typeface="Times New Roman" panose="02020603050405020304" charset="0"/>
                <a:ea typeface="Calibri" panose="020F0502020204030204" pitchFamily="34" charset="-122"/>
                <a:cs typeface="Times New Roman" panose="02020603050405020304" charset="0"/>
                <a:sym typeface="+mn-ea"/>
              </a:rPr>
              <a:t>và</a:t>
            </a:r>
            <a:endParaRPr lang="en-US" sz="2600" dirty="0">
              <a:solidFill>
                <a:schemeClr val="tx1"/>
              </a:solidFill>
              <a:latin typeface="Times New Roman" panose="02020603050405020304" charset="0"/>
              <a:cs typeface="Times New Roman" panose="02020603050405020304" charset="0"/>
            </a:endParaRPr>
          </a:p>
          <a:p>
            <a:pPr marL="0" indent="0" algn="ctr">
              <a:lnSpc>
                <a:spcPct val="115000"/>
              </a:lnSpc>
              <a:spcBef>
                <a:spcPts val="0"/>
              </a:spcBef>
              <a:spcAft>
                <a:spcPts val="0"/>
              </a:spcAft>
              <a:buNone/>
            </a:pPr>
            <a:r>
              <a:rPr lang="en-US" sz="2600" b="1" dirty="0">
                <a:solidFill>
                  <a:schemeClr val="tx1"/>
                </a:solidFill>
                <a:latin typeface="Times New Roman" panose="02020603050405020304" charset="0"/>
                <a:ea typeface="Calibri" panose="020F0502020204030204" pitchFamily="34" charset="-122"/>
                <a:cs typeface="Times New Roman" panose="02020603050405020304" charset="0"/>
                <a:sym typeface="+mn-ea"/>
              </a:rPr>
              <a:t>đánh giá kết quả</a:t>
            </a:r>
            <a:endParaRPr lang="en-US" sz="2600" b="1" dirty="0">
              <a:solidFill>
                <a:schemeClr val="tx1"/>
              </a:solidFill>
              <a:latin typeface="Times New Roman" panose="02020603050405020304" charset="0"/>
              <a:ea typeface="Calibri" panose="020F0502020204030204" pitchFamily="34" charset="-122"/>
              <a:cs typeface="Times New Roman" panose="02020603050405020304" charset="0"/>
              <a:sym typeface="+mn-ea"/>
            </a:endParaRPr>
          </a:p>
        </p:txBody>
      </p:sp>
      <p:sp>
        <p:nvSpPr>
          <p:cNvPr id="36" name="Text 22"/>
          <p:cNvSpPr/>
          <p:nvPr/>
        </p:nvSpPr>
        <p:spPr>
          <a:xfrm>
            <a:off x="13408660" y="2508885"/>
            <a:ext cx="595630" cy="619760"/>
          </a:xfrm>
          <a:prstGeom prst="rect">
            <a:avLst/>
          </a:prstGeom>
          <a:noFill/>
        </p:spPr>
        <p:txBody>
          <a:bodyPr wrap="square" lIns="0" tIns="0" rIns="0" bIns="0" rtlCol="0" anchor="ctr"/>
          <a:lstStyle/>
          <a:p>
            <a:pPr marL="0" indent="0" algn="l">
              <a:buNone/>
            </a:pPr>
            <a:r>
              <a:rPr lang="en-US" sz="2600" b="1" dirty="0">
                <a:solidFill>
                  <a:srgbClr val="8B1E2D"/>
                </a:solidFill>
                <a:latin typeface="Times New Roman" panose="02020603050405020304" charset="0"/>
                <a:ea typeface="Calibri" panose="020F0502020204030204" pitchFamily="34" charset="-122"/>
                <a:cs typeface="Times New Roman" panose="02020603050405020304" charset="0"/>
              </a:rPr>
              <a:t>5</a:t>
            </a:r>
            <a:endParaRPr lang="en-US" sz="26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
        <p:nvSpPr>
          <p:cNvPr id="42" name="Shape 27"/>
          <p:cNvSpPr/>
          <p:nvPr/>
        </p:nvSpPr>
        <p:spPr>
          <a:xfrm>
            <a:off x="822960" y="6035040"/>
            <a:ext cx="16596360" cy="3086100"/>
          </a:xfrm>
          <a:prstGeom prst="roundRect">
            <a:avLst>
              <a:gd name="adj" fmla="val 3556"/>
            </a:avLst>
          </a:prstGeom>
          <a:solidFill>
            <a:srgbClr val="FFFFFF"/>
          </a:solidFill>
          <a:ln w="9525">
            <a:solidFill>
              <a:srgbClr val="E7E1DC"/>
            </a:solidFill>
            <a:prstDash val="solid"/>
          </a:ln>
          <a:effectLst>
            <a:outerShdw blurRad="101600" dist="38100" dir="5400000" algn="bl" rotWithShape="0">
              <a:srgbClr val="000000">
                <a:alpha val="8000"/>
              </a:srgbClr>
            </a:outerShdw>
          </a:effectLst>
        </p:spPr>
      </p:sp>
      <p:sp>
        <p:nvSpPr>
          <p:cNvPr id="44" name="Text 28"/>
          <p:cNvSpPr/>
          <p:nvPr/>
        </p:nvSpPr>
        <p:spPr>
          <a:xfrm>
            <a:off x="1234440" y="6309360"/>
            <a:ext cx="8229600" cy="438912"/>
          </a:xfrm>
          <a:prstGeom prst="rect">
            <a:avLst/>
          </a:prstGeom>
          <a:noFill/>
        </p:spPr>
        <p:txBody>
          <a:bodyPr wrap="square" lIns="0" tIns="0" rIns="0" bIns="0" rtlCol="0" anchor="ctr"/>
          <a:lstStyle/>
          <a:p>
            <a:pPr marL="0" indent="0">
              <a:buNone/>
            </a:pPr>
            <a:r>
              <a:rPr lang="vi-VN" altLang="en-US" sz="2800" b="1" dirty="0">
                <a:solidFill>
                  <a:schemeClr val="tx1"/>
                </a:solidFill>
                <a:latin typeface="Times New Roman" panose="02020603050405020304" charset="0"/>
                <a:ea typeface="Calibri" panose="020F0502020204030204" pitchFamily="34" charset="-122"/>
                <a:cs typeface="Times New Roman" panose="02020603050405020304" charset="0"/>
              </a:rPr>
              <a:t>M</a:t>
            </a:r>
            <a:r>
              <a:rPr lang="en-US" sz="2800" b="1" dirty="0">
                <a:solidFill>
                  <a:schemeClr val="tx1"/>
                </a:solidFill>
                <a:latin typeface="Times New Roman" panose="02020603050405020304" charset="0"/>
                <a:ea typeface="Calibri" panose="020F0502020204030204" pitchFamily="34" charset="-122"/>
                <a:cs typeface="Times New Roman" panose="02020603050405020304" charset="0"/>
              </a:rPr>
              <a:t>ô tả quy trình</a:t>
            </a:r>
            <a:endParaRPr lang="en-US" sz="28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45" name="Text 29"/>
          <p:cNvSpPr/>
          <p:nvPr/>
        </p:nvSpPr>
        <p:spPr>
          <a:xfrm>
            <a:off x="1234440" y="6830568"/>
            <a:ext cx="15773400" cy="2125980"/>
          </a:xfrm>
          <a:prstGeom prst="rect">
            <a:avLst/>
          </a:prstGeom>
          <a:noFill/>
        </p:spPr>
        <p:txBody>
          <a:bodyPr wrap="square" lIns="0" tIns="0" rIns="0" bIns="0" rtlCol="0" anchor="ctr"/>
          <a:lstStyle/>
          <a:p>
            <a:pPr marL="0" indent="0">
              <a:lnSpc>
                <a:spcPct val="120000"/>
              </a:lnSpc>
              <a:spcBef>
                <a:spcPts val="0"/>
              </a:spcBef>
              <a:spcAft>
                <a:spcPts val="0"/>
              </a:spcAft>
              <a:buNone/>
            </a:pPr>
            <a:r>
              <a:rPr lang="vi-VN" altLang="en-US" sz="2600"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2600" dirty="0">
                <a:solidFill>
                  <a:schemeClr val="tx1"/>
                </a:solidFill>
                <a:latin typeface="Times New Roman" panose="02020603050405020304" charset="0"/>
                <a:ea typeface="Calibri" panose="020F0502020204030204" pitchFamily="34" charset="-122"/>
                <a:cs typeface="Times New Roman" panose="02020603050405020304" charset="0"/>
              </a:rPr>
              <a:t>Dữ liệu US Accidents (2016–2023) được đọc bằng Pandas, kiểm tra cấu trúc và chất lượng, sau đó tiền xử lý: loại bỏ thuộc tính không cần thiết, xử lý dữ liệu thiếu và trích xuất đặc trưng thời gian (Hour, Month, Year). Tập dữ liệu sạch được dùng cho EDA nhằm khám phá xu hướng, sau đó xây dựng mô hình Random Forest dự đoán Severity và mô hình K-Means phân nhóm khu vực rủi ro. Cuối cùng, kết quả được trực quan hóa để đánh giá và rút ra kết luận.</a:t>
            </a:r>
            <a:endParaRPr lang="en-US" sz="2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50" name="Text 11"/>
          <p:cNvSpPr/>
          <p:nvPr/>
        </p:nvSpPr>
        <p:spPr>
          <a:xfrm>
            <a:off x="10961370" y="9258300"/>
            <a:ext cx="6114415" cy="411480"/>
          </a:xfrm>
          <a:prstGeom prst="rect">
            <a:avLst/>
          </a:prstGeom>
          <a:noFill/>
        </p:spPr>
        <p:txBody>
          <a:bodyPr wrap="square" lIns="0" tIns="0" rIns="0" bIns="0" rtlCol="0" anchor="ctr"/>
          <a:lstStyle/>
          <a:p>
            <a:pPr marL="0" indent="0" algn="r">
              <a:buNone/>
            </a:pPr>
            <a:r>
              <a:rPr lang="vi-VN" alt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 - K225480106099</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  |  Khoa học dữ liệu</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711835" y="342900"/>
            <a:ext cx="13067030" cy="1144270"/>
          </a:xfrm>
          <a:prstGeom prst="rect">
            <a:avLst/>
          </a:prstGeom>
        </p:spPr>
        <p:txBody>
          <a:bodyPr wrap="square" lIns="0" tIns="0" rIns="0" bIns="0" rtlCol="0" anchor="t">
            <a:spAutoFit/>
          </a:bodyPr>
          <a:lstStyle/>
          <a:p>
            <a:pPr algn="ctr">
              <a:lnSpc>
                <a:spcPts val="8925"/>
              </a:lnSpc>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CHƯƠNG 4: THỰC NGHIỆM VÀ ĐÁNH GIÁ KẾT QUẢ</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914663" y="1562053"/>
            <a:ext cx="10458212"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1.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Tai nạn xảy ra nhiều nhất vào khung giờ nào?</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2" name="TextBox 12"/>
          <p:cNvSpPr txBox="1"/>
          <p:nvPr/>
        </p:nvSpPr>
        <p:spPr>
          <a:xfrm>
            <a:off x="12304401" y="2324052"/>
            <a:ext cx="5250198" cy="6121400"/>
          </a:xfrm>
          <a:prstGeom prst="rect">
            <a:avLst/>
          </a:prstGeom>
        </p:spPr>
        <p:txBody>
          <a:bodyPr lIns="0" tIns="0" rIns="0" bIns="0" rtlCol="0" anchor="t">
            <a:spAutoFit/>
          </a:bodyPr>
          <a:lstStyle/>
          <a:p>
            <a:pPr algn="ctr">
              <a:lnSpc>
                <a:spcPct val="130000"/>
              </a:lnSpc>
              <a:spcBef>
                <a:spcPts val="0"/>
              </a:spcBef>
              <a:spcAft>
                <a:spcPts val="0"/>
              </a:spcAft>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ct val="130000"/>
              </a:lnSpc>
              <a:spcBef>
                <a:spcPts val="0"/>
              </a:spcBef>
              <a:spcAft>
                <a:spcPts val="0"/>
              </a:spcAft>
            </a:pPr>
            <a:r>
              <a:rPr lang="en-US" sz="3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T</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ai nạn phân bố không đồng đều theo giờ:</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l">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Cao điểm: 7–8h sáng và 16–17h chiều.</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l">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Thấp nhất vào rạng sáng.</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l">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Duy trì mức cao từ 12h–18h.</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130000"/>
              </a:lnSpc>
              <a:spcBef>
                <a:spcPts val="0"/>
              </a:spcBef>
              <a:spcAft>
                <a:spcPts val="0"/>
              </a:spcAft>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 </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Mật độ phương tiện tăng cao trong giờ đi làm/tan làm làm gia tăng nguy cơ va chạm.</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 name="Picture 12"/>
          <p:cNvPicPr>
            <a:picLocks noChangeAspect="1"/>
          </p:cNvPicPr>
          <p:nvPr/>
        </p:nvPicPr>
        <p:blipFill>
          <a:blip r:embed="rId1"/>
          <a:stretch>
            <a:fillRect/>
          </a:stretch>
        </p:blipFill>
        <p:spPr>
          <a:xfrm>
            <a:off x="990600" y="2647950"/>
            <a:ext cx="11066780" cy="6768465"/>
          </a:xfrm>
          <a:prstGeom prst="rect">
            <a:avLst/>
          </a:prstGeom>
        </p:spPr>
      </p:pic>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7</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838019" y="760977"/>
            <a:ext cx="11365706"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2.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Thời tiết nào liên quan đến nhiều vụ tai nạn nhất?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12039582" y="1257051"/>
            <a:ext cx="5250198" cy="9441180"/>
          </a:xfrm>
          <a:prstGeom prst="rect">
            <a:avLst/>
          </a:prstGeom>
        </p:spPr>
        <p:txBody>
          <a:bodyPr lIns="0" tIns="0" rIns="0" bIns="0" rtlCol="0" anchor="t">
            <a:spAutoFit/>
          </a:bodyPr>
          <a:lstStyle/>
          <a:p>
            <a:pPr algn="ctr">
              <a:lnSpc>
                <a:spcPct val="130000"/>
              </a:lnSpc>
              <a:spcBef>
                <a:spcPts val="0"/>
              </a:spcBef>
              <a:spcAft>
                <a:spcPts val="0"/>
              </a:spcAft>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Phần lớn t</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ai nạn xảy ra khi thời tiết quang đãng hoặc nhiều mây.</a:t>
            </a:r>
            <a:endPar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Thời</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tiết xấu như mưa, sương mù, tuyết có ít vụ tai nạn hơn nhưng vẫn làm</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tăng rủi ro.</a:t>
            </a:r>
            <a:endPar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Điều kiện thời tiết là một yếu tố cần xem xét trong phân tích tai nạn.</a:t>
            </a:r>
            <a:endPar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130000"/>
              </a:lnSpc>
              <a:spcBef>
                <a:spcPts val="0"/>
              </a:spcBef>
              <a:spcAft>
                <a:spcPts val="0"/>
              </a:spcAft>
            </a:pPr>
            <a:endParaRPr sz="3600"/>
          </a:p>
          <a:p>
            <a:pPr algn="just">
              <a:lnSpc>
                <a:spcPct val="130000"/>
              </a:lnSpc>
              <a:spcBef>
                <a:spcPts val="0"/>
              </a:spcBef>
              <a:spcAft>
                <a:spcPts val="0"/>
              </a:spcAft>
            </a:pPr>
            <a:endParaRPr sz="3600"/>
          </a:p>
        </p:txBody>
      </p:sp>
      <p:pic>
        <p:nvPicPr>
          <p:cNvPr id="12" name="Picture 11"/>
          <p:cNvPicPr>
            <a:picLocks noChangeAspect="1"/>
          </p:cNvPicPr>
          <p:nvPr/>
        </p:nvPicPr>
        <p:blipFill>
          <a:blip r:embed="rId1"/>
          <a:stretch>
            <a:fillRect/>
          </a:stretch>
        </p:blipFill>
        <p:spPr>
          <a:xfrm>
            <a:off x="838200" y="1866900"/>
            <a:ext cx="11091545" cy="7310120"/>
          </a:xfrm>
          <a:prstGeom prst="rect">
            <a:avLst/>
          </a:prstGeom>
        </p:spPr>
      </p:pic>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8</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838019" y="571747"/>
            <a:ext cx="10516910" cy="717550"/>
          </a:xfrm>
          <a:prstGeom prst="rect">
            <a:avLst/>
          </a:prstGeom>
        </p:spPr>
        <p:txBody>
          <a:bodyPr lIns="0" tIns="0" rIns="0" bIns="0" rtlCol="0" anchor="t">
            <a:spAutoFit/>
          </a:bodyPr>
          <a:lstStyle/>
          <a:p>
            <a:pPr algn="l">
              <a:lnSpc>
                <a:spcPts val="5600"/>
              </a:lnSpc>
              <a:spcBef>
                <a:spcPct val="0"/>
              </a:spcBef>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3.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Những </a:t>
            </a: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khu vực nào có số vụ tai nạn cao nhất?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11963382" y="1468755"/>
            <a:ext cx="5250198" cy="8720455"/>
          </a:xfrm>
          <a:prstGeom prst="rect">
            <a:avLst/>
          </a:prstGeom>
        </p:spPr>
        <p:txBody>
          <a:bodyPr lIns="0" tIns="0" rIns="0" bIns="0" rtlCol="0" anchor="t">
            <a:spAutoFit/>
          </a:bodyPr>
          <a:lstStyle/>
          <a:p>
            <a:pPr algn="ctr">
              <a:lnSpc>
                <a:spcPct val="130000"/>
              </a:lnSpc>
              <a:spcBef>
                <a:spcPts val="0"/>
              </a:spcBef>
              <a:spcAft>
                <a:spcPts val="0"/>
              </a:spcAft>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California có số</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vụ tai nạn cao nhất, t</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iếp theo là Florida và Texas.</a:t>
            </a:r>
            <a:endPar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Các bang đông dân và</a:t>
            </a: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có lưu lượng giao thông lớn thường ghi nhận nhiều tai nạn hơn.</a:t>
            </a:r>
            <a:endPar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Yếu tố vị trí địa lý ảnh hưởng đáng kể đến tần suất tai nạn.</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130000"/>
              </a:lnSpc>
              <a:spcBef>
                <a:spcPts val="0"/>
              </a:spcBef>
              <a:spcAft>
                <a:spcPts val="0"/>
              </a:spcAft>
            </a:pPr>
          </a:p>
          <a:p>
            <a:pPr algn="just">
              <a:lnSpc>
                <a:spcPct val="130000"/>
              </a:lnSpc>
              <a:spcBef>
                <a:spcPts val="0"/>
              </a:spcBef>
              <a:spcAft>
                <a:spcPts val="0"/>
              </a:spcAft>
            </a:pPr>
          </a:p>
        </p:txBody>
      </p:sp>
      <p:pic>
        <p:nvPicPr>
          <p:cNvPr id="12" name="Picture 11"/>
          <p:cNvPicPr>
            <a:picLocks noChangeAspect="1"/>
          </p:cNvPicPr>
          <p:nvPr/>
        </p:nvPicPr>
        <p:blipFill>
          <a:blip r:embed="rId1"/>
          <a:stretch>
            <a:fillRect/>
          </a:stretch>
        </p:blipFill>
        <p:spPr>
          <a:xfrm>
            <a:off x="962660" y="1638300"/>
            <a:ext cx="10979150" cy="7676515"/>
          </a:xfrm>
          <a:prstGeom prst="rect">
            <a:avLst/>
          </a:prstGeom>
        </p:spPr>
      </p:pic>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9</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838019" y="647947"/>
            <a:ext cx="14456807"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4. Mức độ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nghiêm trọng của tai nạn thay đổi theo thời gian ra sao?</a:t>
            </a:r>
            <a:endParaRPr sz="3600"/>
          </a:p>
        </p:txBody>
      </p:sp>
      <p:sp>
        <p:nvSpPr>
          <p:cNvPr id="11" name="TextBox 11"/>
          <p:cNvSpPr txBox="1"/>
          <p:nvPr/>
        </p:nvSpPr>
        <p:spPr>
          <a:xfrm>
            <a:off x="11963400" y="1562100"/>
            <a:ext cx="5551170" cy="8276590"/>
          </a:xfrm>
          <a:prstGeom prst="rect">
            <a:avLst/>
          </a:prstGeom>
        </p:spPr>
        <p:txBody>
          <a:bodyPr wrap="square" lIns="0" tIns="0" rIns="0" bIns="0" rtlCol="0" anchor="t">
            <a:spAutoFit/>
          </a:bodyPr>
          <a:lstStyle/>
          <a:p>
            <a:pPr algn="ctr">
              <a:lnSpc>
                <a:spcPct val="130000"/>
              </a:lnSpc>
              <a:spcBef>
                <a:spcPts val="0"/>
              </a:spcBef>
              <a:spcAft>
                <a:spcPts val="0"/>
              </a:spcAft>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just">
              <a:lnSpc>
                <a:spcPct val="130000"/>
              </a:lnSpc>
              <a:spcBef>
                <a:spcPts val="0"/>
              </a:spcBef>
              <a:spcAft>
                <a:spcPts val="0"/>
              </a:spcAft>
              <a:buFont typeface="Arial" panose="020B0604020202020204"/>
              <a:buChar char="•"/>
            </a:pPr>
            <a:r>
              <a:rPr lang="en-US" sz="3400">
                <a:solidFill>
                  <a:srgbClr val="261310"/>
                </a:solidFill>
                <a:latin typeface="Times New Roman" panose="02020603050405020304"/>
                <a:ea typeface="Times New Roman" panose="02020603050405020304"/>
                <a:cs typeface="Times New Roman" panose="02020603050405020304"/>
                <a:sym typeface="Times New Roman" panose="02020603050405020304"/>
              </a:rPr>
              <a:t>Mức độ nghiêm trọng trung bình có xu hướng giảm dần từ năm 2016 đến 2023.</a:t>
            </a:r>
            <a:endParaRPr lang="en-US" sz="34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400">
                <a:solidFill>
                  <a:srgbClr val="261310"/>
                </a:solidFill>
                <a:latin typeface="Times New Roman" panose="02020603050405020304"/>
                <a:ea typeface="Times New Roman" panose="02020603050405020304"/>
                <a:cs typeface="Times New Roman" panose="02020603050405020304"/>
                <a:sym typeface="Times New Roman" panose="02020603050405020304"/>
              </a:rPr>
              <a:t>Điều này cho thấy tình hình an toàn giao thông có dấu hiệu được cải thiện theo thời gian.</a:t>
            </a:r>
            <a:endParaRPr lang="en-US" sz="34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400">
                <a:solidFill>
                  <a:srgbClr val="261310"/>
                </a:solidFill>
                <a:latin typeface="Times New Roman" panose="02020603050405020304"/>
                <a:ea typeface="Times New Roman" panose="02020603050405020304"/>
                <a:cs typeface="Times New Roman" panose="02020603050405020304"/>
                <a:sym typeface="Times New Roman" panose="02020603050405020304"/>
              </a:rPr>
              <a:t>Yếu tố thời gian có ảnh hưởng đến mức độ nghiêm trọng của tai nạn.</a:t>
            </a:r>
            <a:endParaRPr sz="3400"/>
          </a:p>
          <a:p>
            <a:pPr algn="just">
              <a:lnSpc>
                <a:spcPct val="130000"/>
              </a:lnSpc>
              <a:spcBef>
                <a:spcPts val="0"/>
              </a:spcBef>
              <a:spcAft>
                <a:spcPts val="0"/>
              </a:spcAft>
            </a:pPr>
            <a:endParaRPr sz="3400"/>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0</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pic>
        <p:nvPicPr>
          <p:cNvPr id="9" name="Picture 8"/>
          <p:cNvPicPr>
            <a:picLocks noChangeAspect="1"/>
          </p:cNvPicPr>
          <p:nvPr/>
        </p:nvPicPr>
        <p:blipFill>
          <a:blip r:embed="rId1"/>
          <a:stretch>
            <a:fillRect/>
          </a:stretch>
        </p:blipFill>
        <p:spPr>
          <a:xfrm>
            <a:off x="914400" y="1714500"/>
            <a:ext cx="10892155" cy="75107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838019" y="647947"/>
            <a:ext cx="12435126"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5. Tai nạn có xu hướ</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ng tăng hay giảm theo từng năm?</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12009102" y="2069067"/>
            <a:ext cx="5250198" cy="5961380"/>
          </a:xfrm>
          <a:prstGeom prst="rect">
            <a:avLst/>
          </a:prstGeom>
        </p:spPr>
        <p:txBody>
          <a:bodyPr lIns="0" tIns="0" rIns="0" bIns="0" rtlCol="0" anchor="t">
            <a:spAutoFit/>
          </a:bodyPr>
          <a:lstStyle/>
          <a:p>
            <a:pPr algn="ctr">
              <a:lnSpc>
                <a:spcPct val="130000"/>
              </a:lnSpc>
              <a:spcBef>
                <a:spcPts val="0"/>
              </a:spcBef>
              <a:spcAft>
                <a:spcPts val="0"/>
              </a:spcAft>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just">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Số vụ tai </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nạn tăng liên tục từ năm 2016</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 đến 2022 và đạt</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 đỉnh vào năm 2022.</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Năm 2023 giảm mạnh, có thể do dữ liệu chưa đầy đủ.</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Xu hướng chu</a:t>
            </a: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ng cho thấy số lượng tai nạn gia tăng trong giai đoạn nghiên cứu.</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130000"/>
              </a:lnSpc>
              <a:spcBef>
                <a:spcPts val="0"/>
              </a:spcBef>
              <a:spcAft>
                <a:spcPts val="0"/>
              </a:spcAft>
            </a:pPr>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pic>
        <p:nvPicPr>
          <p:cNvPr id="9" name="Picture 8"/>
          <p:cNvPicPr>
            <a:picLocks noChangeAspect="1"/>
          </p:cNvPicPr>
          <p:nvPr/>
        </p:nvPicPr>
        <p:blipFill>
          <a:blip r:embed="rId1"/>
          <a:stretch>
            <a:fillRect/>
          </a:stretch>
        </p:blipFill>
        <p:spPr>
          <a:xfrm>
            <a:off x="914400" y="1638300"/>
            <a:ext cx="10906125" cy="76282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9" name="Freeform 9"/>
          <p:cNvSpPr/>
          <p:nvPr/>
        </p:nvSpPr>
        <p:spPr>
          <a:xfrm>
            <a:off x="1758715" y="8109943"/>
            <a:ext cx="957582" cy="791046"/>
          </a:xfrm>
          <a:custGeom>
            <a:avLst/>
            <a:gdLst/>
            <a:ahLst/>
            <a:cxnLst/>
            <a:rect l="l" t="t" r="r" b="b"/>
            <a:pathLst>
              <a:path w="957582" h="791046">
                <a:moveTo>
                  <a:pt x="0" y="0"/>
                </a:moveTo>
                <a:lnTo>
                  <a:pt x="957581" y="0"/>
                </a:lnTo>
                <a:lnTo>
                  <a:pt x="957581" y="791046"/>
                </a:lnTo>
                <a:lnTo>
                  <a:pt x="0" y="791046"/>
                </a:lnTo>
                <a:lnTo>
                  <a:pt x="0" y="0"/>
                </a:lnTo>
                <a:close/>
              </a:path>
            </a:pathLst>
          </a:custGeom>
          <a:blipFill>
            <a:blip r:embed="rId1"/>
            <a:stretch>
              <a:fillRect/>
            </a:stretch>
          </a:blipFill>
        </p:spPr>
      </p:sp>
      <p:sp>
        <p:nvSpPr>
          <p:cNvPr id="10" name="TextBox 10"/>
          <p:cNvSpPr txBox="1"/>
          <p:nvPr/>
        </p:nvSpPr>
        <p:spPr>
          <a:xfrm>
            <a:off x="838019" y="622300"/>
            <a:ext cx="13639086"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6. Kết quả dự đoán mức độ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nghiêm trọng bằng Random Forest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5508926" y="1340097"/>
            <a:ext cx="7270148" cy="717550"/>
          </a:xfrm>
          <a:prstGeom prst="rect">
            <a:avLst/>
          </a:prstGeom>
        </p:spPr>
        <p:txBody>
          <a:bodyPr lIns="0" tIns="0" rIns="0" bIns="0" rtlCol="0" anchor="t">
            <a:spAutoFit/>
          </a:bodyPr>
          <a:lstStyle/>
          <a:p>
            <a:pPr algn="ctr">
              <a:lnSpc>
                <a:spcPts val="5600"/>
              </a:lnSpc>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Kết quả dự đoán Random Forest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2" name="TextBox 12"/>
          <p:cNvSpPr txBox="1"/>
          <p:nvPr/>
        </p:nvSpPr>
        <p:spPr>
          <a:xfrm>
            <a:off x="2368550" y="2314575"/>
            <a:ext cx="3878580" cy="2333625"/>
          </a:xfrm>
          <a:prstGeom prst="rect">
            <a:avLst/>
          </a:prstGeom>
        </p:spPr>
        <p:txBody>
          <a:bodyPr wrap="square" lIns="0" tIns="0" rIns="0" bIns="0" rtlCol="0" anchor="t">
            <a:spAutoFit/>
          </a:bodyPr>
          <a:lstStyle/>
          <a:p>
            <a:pPr algn="ctr">
              <a:lnSpc>
                <a:spcPts val="7000"/>
              </a:lnSpc>
              <a:spcBef>
                <a:spcPct val="0"/>
              </a:spcBef>
            </a:pPr>
            <a:r>
              <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79.54%</a:t>
            </a:r>
            <a:endPar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Accuracy</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vi-VN" altLang="en-US" sz="3000">
                <a:latin typeface="Times New Roman" panose="02020603050405020304" charset="0"/>
                <a:cs typeface="Times New Roman" panose="02020603050405020304" charset="0"/>
                <a:sym typeface="+mn-ea"/>
              </a:rPr>
              <a:t>Độ chính xác tổng </a:t>
            </a:r>
            <a:r>
              <a:rPr lang="vi-VN" altLang="en-US" sz="3000">
                <a:latin typeface="Times New Roman" panose="02020603050405020304" charset="0"/>
                <a:cs typeface="Times New Roman" panose="02020603050405020304" charset="0"/>
                <a:sym typeface="+mn-ea"/>
              </a:rPr>
              <a:t>thể</a:t>
            </a:r>
            <a:endParaRPr lang="vi-VN" altLang="en-US" sz="3000">
              <a:latin typeface="Times New Roman" panose="02020603050405020304" charset="0"/>
              <a:cs typeface="Times New Roman" panose="02020603050405020304" charset="0"/>
              <a:sym typeface="+mn-ea"/>
            </a:endParaRPr>
          </a:p>
        </p:txBody>
      </p:sp>
      <p:sp>
        <p:nvSpPr>
          <p:cNvPr id="13" name="TextBox 13"/>
          <p:cNvSpPr txBox="1"/>
          <p:nvPr/>
        </p:nvSpPr>
        <p:spPr>
          <a:xfrm>
            <a:off x="1758715" y="5295621"/>
            <a:ext cx="4754642" cy="2333625"/>
          </a:xfrm>
          <a:prstGeom prst="rect">
            <a:avLst/>
          </a:prstGeom>
        </p:spPr>
        <p:txBody>
          <a:bodyPr lIns="0" tIns="0" rIns="0" bIns="0" rtlCol="0" anchor="t">
            <a:spAutoFit/>
          </a:bodyPr>
          <a:lstStyle/>
          <a:p>
            <a:pPr algn="ctr">
              <a:lnSpc>
                <a:spcPts val="7000"/>
              </a:lnSpc>
              <a:spcBef>
                <a:spcPct val="0"/>
              </a:spcBef>
            </a:pPr>
            <a:r>
              <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73%</a:t>
            </a:r>
            <a:endParaRPr lang="en-US" sz="5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F1-Scor</a:t>
            </a:r>
            <a:r>
              <a:rPr lang="vi-VN" alt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e</a:t>
            </a:r>
            <a:endParaRPr lang="vi-VN" alt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altLang="en-GB" sz="3000">
                <a:latin typeface="Times New Roman" panose="02020603050405020304" charset="0"/>
                <a:cs typeface="Times New Roman" panose="02020603050405020304" charset="0"/>
              </a:rPr>
              <a:t>C</a:t>
            </a:r>
            <a:r>
              <a:rPr lang="en-US" altLang="en-US" sz="3000">
                <a:latin typeface="Times New Roman" panose="02020603050405020304" charset="0"/>
                <a:cs typeface="Times New Roman" panose="02020603050405020304" charset="0"/>
              </a:rPr>
              <a:t>â</a:t>
            </a:r>
            <a:r>
              <a:rPr lang="en-US" altLang="en-GB" sz="3000">
                <a:latin typeface="Times New Roman" panose="02020603050405020304" charset="0"/>
                <a:cs typeface="Times New Roman" panose="02020603050405020304" charset="0"/>
              </a:rPr>
              <a:t>n bằng Precision và Recall</a:t>
            </a:r>
            <a:endParaRPr lang="en-US" altLang="en-GB" sz="3000">
              <a:latin typeface="Times New Roman" panose="02020603050405020304" charset="0"/>
              <a:cs typeface="Times New Roman" panose="02020603050405020304" charset="0"/>
            </a:endParaRPr>
          </a:p>
        </p:txBody>
      </p:sp>
      <p:sp>
        <p:nvSpPr>
          <p:cNvPr id="14" name="TextBox 14"/>
          <p:cNvSpPr txBox="1"/>
          <p:nvPr/>
        </p:nvSpPr>
        <p:spPr>
          <a:xfrm>
            <a:off x="11125200" y="5219700"/>
            <a:ext cx="3893820" cy="2333625"/>
          </a:xfrm>
          <a:prstGeom prst="rect">
            <a:avLst/>
          </a:prstGeom>
        </p:spPr>
        <p:txBody>
          <a:bodyPr wrap="square" lIns="0" tIns="0" rIns="0" bIns="0" rtlCol="0" anchor="t">
            <a:spAutoFit/>
          </a:bodyPr>
          <a:lstStyle/>
          <a:p>
            <a:pPr algn="ctr">
              <a:lnSpc>
                <a:spcPts val="7000"/>
              </a:lnSpc>
              <a:spcBef>
                <a:spcPct val="0"/>
              </a:spcBef>
            </a:pPr>
            <a:r>
              <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71%</a:t>
            </a:r>
            <a:endParaRPr lang="en-US" sz="5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Precision</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vi-VN" alt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Độ chính xác dự </a:t>
            </a:r>
            <a:r>
              <a:rPr lang="vi-VN" alt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đoán</a:t>
            </a:r>
            <a:endParaRPr lang="vi-VN" alt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5"/>
          <p:cNvSpPr txBox="1"/>
          <p:nvPr/>
        </p:nvSpPr>
        <p:spPr>
          <a:xfrm>
            <a:off x="9789827" y="2261095"/>
            <a:ext cx="6151245" cy="2333625"/>
          </a:xfrm>
          <a:prstGeom prst="rect">
            <a:avLst/>
          </a:prstGeom>
        </p:spPr>
        <p:txBody>
          <a:bodyPr lIns="0" tIns="0" rIns="0" bIns="0" rtlCol="0" anchor="t">
            <a:spAutoFit/>
          </a:bodyPr>
          <a:lstStyle/>
          <a:p>
            <a:pPr algn="ctr">
              <a:lnSpc>
                <a:spcPts val="7000"/>
              </a:lnSpc>
              <a:spcBef>
                <a:spcPct val="0"/>
              </a:spcBef>
            </a:pPr>
            <a:r>
              <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80</a:t>
            </a:r>
            <a:r>
              <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a:t>
            </a:r>
            <a:endParaRPr lang="en-US" sz="7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Re</a:t>
            </a:r>
            <a:r>
              <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call</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5600"/>
              </a:lnSpc>
              <a:spcBef>
                <a:spcPct val="0"/>
              </a:spcBef>
            </a:pPr>
            <a:r>
              <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rPr>
              <a:t>Nhận diện đúng phần lớn mẫu</a:t>
            </a:r>
            <a:endParaRPr lang="en-US" sz="3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TextBox 16"/>
          <p:cNvSpPr txBox="1"/>
          <p:nvPr/>
        </p:nvSpPr>
        <p:spPr>
          <a:xfrm>
            <a:off x="2086110" y="8014693"/>
            <a:ext cx="14912372" cy="1403351"/>
          </a:xfrm>
          <a:prstGeom prst="rect">
            <a:avLst/>
          </a:prstGeom>
        </p:spPr>
        <p:txBody>
          <a:bodyPr lIns="0" tIns="0" rIns="0" bIns="0" rtlCol="0" anchor="t">
            <a:spAutoFit/>
          </a:bodyPr>
          <a:lstStyle/>
          <a:p>
            <a:pPr algn="ctr">
              <a:lnSpc>
                <a:spcPts val="5600"/>
              </a:lnSpc>
              <a:spcBef>
                <a:spcPct val="0"/>
              </a:spcBef>
            </a:pPr>
            <a:r>
              <a:rPr lang="en-US" sz="4000">
                <a:solidFill>
                  <a:srgbClr val="261310"/>
                </a:solidFill>
                <a:latin typeface="Times New Roman" panose="02020603050405020304"/>
                <a:ea typeface="Times New Roman" panose="02020603050405020304"/>
                <a:cs typeface="Times New Roman" panose="02020603050405020304"/>
                <a:sym typeface="Times New Roman" panose="02020603050405020304"/>
              </a:rPr>
              <a:t>Mô hình dự đoán rất tốt với Severity = 2, nhưng còn hạn chế với Severity 1, 3, 4 do dữ liệu mất cân bằng.</a:t>
            </a:r>
            <a:endParaRPr lang="en-US" sz="4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Shape 5"/>
          <p:cNvSpPr/>
          <p:nvPr/>
        </p:nvSpPr>
        <p:spPr>
          <a:xfrm>
            <a:off x="1701165" y="2289175"/>
            <a:ext cx="4999355" cy="2334895"/>
          </a:xfrm>
          <a:prstGeom prst="roundRect">
            <a:avLst>
              <a:gd name="adj" fmla="val 7000"/>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nRef>
          <a:fillRef idx="0">
            <a:srgbClr val="FFFFFF"/>
          </a:fillRef>
          <a:effectRef idx="0">
            <a:srgbClr val="FFFFFF"/>
          </a:effectRef>
          <a:fontRef idx="minor">
            <a:schemeClr val="tx1"/>
          </a:fontRef>
        </p:style>
      </p:sp>
      <p:sp>
        <p:nvSpPr>
          <p:cNvPr id="25" name="Shape 5"/>
          <p:cNvSpPr/>
          <p:nvPr/>
        </p:nvSpPr>
        <p:spPr>
          <a:xfrm>
            <a:off x="10210800" y="2215515"/>
            <a:ext cx="5244465" cy="2434590"/>
          </a:xfrm>
          <a:prstGeom prst="roundRect">
            <a:avLst>
              <a:gd name="adj" fmla="val 7000"/>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nRef>
          <a:fillRef idx="0">
            <a:srgbClr val="FFFFFF"/>
          </a:fillRef>
          <a:effectRef idx="0">
            <a:srgbClr val="FFFFFF"/>
          </a:effectRef>
          <a:fontRef idx="minor">
            <a:schemeClr val="tx1"/>
          </a:fontRef>
        </p:style>
      </p:sp>
      <p:sp>
        <p:nvSpPr>
          <p:cNvPr id="26" name="Shape 5"/>
          <p:cNvSpPr/>
          <p:nvPr/>
        </p:nvSpPr>
        <p:spPr>
          <a:xfrm>
            <a:off x="1684655" y="5203825"/>
            <a:ext cx="5025390" cy="2503170"/>
          </a:xfrm>
          <a:prstGeom prst="roundRect">
            <a:avLst>
              <a:gd name="adj" fmla="val 7000"/>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nRef>
          <a:fillRef idx="0">
            <a:srgbClr val="FFFFFF"/>
          </a:fillRef>
          <a:effectRef idx="0">
            <a:srgbClr val="FFFFFF"/>
          </a:effectRef>
          <a:fontRef idx="minor">
            <a:schemeClr val="tx1"/>
          </a:fontRef>
        </p:style>
      </p:sp>
      <p:sp>
        <p:nvSpPr>
          <p:cNvPr id="27" name="Shape 5"/>
          <p:cNvSpPr/>
          <p:nvPr/>
        </p:nvSpPr>
        <p:spPr>
          <a:xfrm>
            <a:off x="10210800" y="5143500"/>
            <a:ext cx="5257165" cy="2334895"/>
          </a:xfrm>
          <a:prstGeom prst="roundRect">
            <a:avLst>
              <a:gd name="adj" fmla="val 7000"/>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nRef>
          <a:fillRef idx="0">
            <a:srgbClr val="FFFFFF"/>
          </a:fillRef>
          <a:effectRef idx="0">
            <a:srgbClr val="FFFFFF"/>
          </a:effectRef>
          <a:fontRef idx="minor">
            <a:schemeClr val="tx1"/>
          </a:fontRef>
        </p:style>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2</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838019" y="622300"/>
            <a:ext cx="13639086"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6. Kết quả dự đoán mức độ </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nghiêm trọng bằng Random Forest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1400329" y="1460747"/>
            <a:ext cx="9861200" cy="717550"/>
          </a:xfrm>
          <a:prstGeom prst="rect">
            <a:avLst/>
          </a:prstGeom>
        </p:spPr>
        <p:txBody>
          <a:bodyPr lIns="0" tIns="0" rIns="0" bIns="0" rtlCol="0" anchor="t">
            <a:spAutoFit/>
          </a:bodyPr>
          <a:lstStyle/>
          <a:p>
            <a:pPr algn="ctr">
              <a:lnSpc>
                <a:spcPts val="5600"/>
              </a:lnSpc>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Phân Tích Mức Độ Ảnh Hưởng Các Yếu Tố</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2" name="TextBox 12"/>
          <p:cNvSpPr txBox="1"/>
          <p:nvPr/>
        </p:nvSpPr>
        <p:spPr>
          <a:xfrm>
            <a:off x="11277404" y="2095245"/>
            <a:ext cx="6186052" cy="6480810"/>
          </a:xfrm>
          <a:prstGeom prst="rect">
            <a:avLst/>
          </a:prstGeom>
        </p:spPr>
        <p:txBody>
          <a:bodyPr lIns="0" tIns="0" rIns="0" bIns="0" rtlCol="0" anchor="t">
            <a:spAutoFit/>
          </a:bodyPr>
          <a:lstStyle/>
          <a:p>
            <a:pPr algn="ctr">
              <a:lnSpc>
                <a:spcPct val="130000"/>
              </a:lnSpc>
              <a:spcBef>
                <a:spcPts val="0"/>
              </a:spcBef>
              <a:spcAft>
                <a:spcPts val="0"/>
              </a:spcAft>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l">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Nhiệt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ộ và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ộ ẩm là 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 yếu tố ảnh 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ư</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ởng mạnh nhất.</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l">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Tốc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ộ gi</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và thời gian xảy ra tai nạn 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ũ</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ng 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t</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ộng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ng kể.</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l">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 yếu tố thời tiết và thời gian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ng vai tr</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ò</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quan trọng trong dự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o</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 Severity.</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 name="Picture 12"/>
          <p:cNvPicPr>
            <a:picLocks noChangeAspect="1"/>
          </p:cNvPicPr>
          <p:nvPr/>
        </p:nvPicPr>
        <p:blipFill>
          <a:blip r:embed="rId1"/>
          <a:stretch>
            <a:fillRect/>
          </a:stretch>
        </p:blipFill>
        <p:spPr>
          <a:xfrm>
            <a:off x="990600" y="2400300"/>
            <a:ext cx="10318115" cy="6897370"/>
          </a:xfrm>
          <a:prstGeom prst="rect">
            <a:avLst/>
          </a:prstGeom>
        </p:spPr>
      </p:pic>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3</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9" name="Freeform 9"/>
          <p:cNvSpPr/>
          <p:nvPr/>
        </p:nvSpPr>
        <p:spPr>
          <a:xfrm>
            <a:off x="838200" y="1740535"/>
            <a:ext cx="10135235" cy="7287895"/>
          </a:xfrm>
          <a:custGeom>
            <a:avLst/>
            <a:gdLst/>
            <a:ahLst/>
            <a:cxnLst/>
            <a:rect l="l" t="t" r="r" b="b"/>
            <a:pathLst>
              <a:path w="10135455" h="7020228">
                <a:moveTo>
                  <a:pt x="0" y="0"/>
                </a:moveTo>
                <a:lnTo>
                  <a:pt x="10135455" y="0"/>
                </a:lnTo>
                <a:lnTo>
                  <a:pt x="10135455" y="7020228"/>
                </a:lnTo>
                <a:lnTo>
                  <a:pt x="0" y="7020228"/>
                </a:lnTo>
                <a:lnTo>
                  <a:pt x="0" y="0"/>
                </a:lnTo>
                <a:close/>
              </a:path>
            </a:pathLst>
          </a:custGeom>
          <a:blipFill>
            <a:blip r:embed="rId1"/>
            <a:stretch>
              <a:fillRect/>
            </a:stretch>
          </a:blipFill>
        </p:spPr>
      </p:sp>
      <p:sp>
        <p:nvSpPr>
          <p:cNvPr id="10" name="TextBox 10"/>
          <p:cNvSpPr txBox="1"/>
          <p:nvPr/>
        </p:nvSpPr>
        <p:spPr>
          <a:xfrm>
            <a:off x="838019" y="622300"/>
            <a:ext cx="11119367" cy="717550"/>
          </a:xfrm>
          <a:prstGeom prst="rect">
            <a:avLst/>
          </a:prstGeom>
        </p:spPr>
        <p:txBody>
          <a:bodyPr lIns="0" tIns="0" rIns="0" bIns="0" rtlCol="0" anchor="t">
            <a:spAutoFit/>
          </a:bodyPr>
          <a:lstStyle/>
          <a:p>
            <a:pPr algn="l">
              <a:lnSpc>
                <a:spcPts val="5600"/>
              </a:lnSpc>
              <a:spcBef>
                <a:spcPct val="0"/>
              </a:spcBef>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7. Kết quả phân cụm khu vực rủ</a:t>
            </a: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i ro bằng K-Means</a:t>
            </a:r>
            <a:endPar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1" name="TextBox 11"/>
          <p:cNvSpPr txBox="1"/>
          <p:nvPr/>
        </p:nvSpPr>
        <p:spPr>
          <a:xfrm>
            <a:off x="11125004" y="1790947"/>
            <a:ext cx="6186052" cy="7200900"/>
          </a:xfrm>
          <a:prstGeom prst="rect">
            <a:avLst/>
          </a:prstGeom>
        </p:spPr>
        <p:txBody>
          <a:bodyPr lIns="0" tIns="0" rIns="0" bIns="0" rtlCol="0" anchor="t">
            <a:spAutoFit/>
          </a:bodyPr>
          <a:lstStyle/>
          <a:p>
            <a:pPr algn="ctr">
              <a:lnSpc>
                <a:spcPct val="130000"/>
              </a:lnSpc>
              <a:spcBef>
                <a:spcPts val="0"/>
              </a:spcBef>
              <a:spcAft>
                <a:spcPts val="0"/>
              </a:spcAft>
            </a:pPr>
            <a:r>
              <a:rPr lang="en-US" sz="36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rPr>
              <a:t>Nhận xét</a:t>
            </a:r>
            <a:endParaRPr lang="en-US" sz="4000" b="1">
              <a:solidFill>
                <a:srgbClr val="26131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7700" lvl="1" indent="-323850" algn="just">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K-Means ph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â</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 chia khu vực thành 3 nh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m: rủi ro thấp, trung b</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ì</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nh và cao.</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m rủi ro cao 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 số vụ tai nạn v</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ư</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ợt trội so với c</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 nh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ó</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m kh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á</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c.</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ct val="130000"/>
              </a:lnSpc>
              <a:spcBef>
                <a:spcPts val="0"/>
              </a:spcBef>
              <a:spcAft>
                <a:spcPts val="0"/>
              </a:spcAft>
              <a:buFont typeface="Arial" panose="020B0604020202020204"/>
              <a:buChar char="•"/>
            </a:pP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Số l</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ư</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ợng tai nạn là yếu tố ch</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í</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nh quyết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ịnh mức </a:t>
            </a:r>
            <a:r>
              <a:rPr lang="en-US" altLang="en-US"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đ</a:t>
            </a:r>
            <a:r>
              <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rPr>
              <a:t>ộ rủi ro khu vực.</a:t>
            </a:r>
            <a:endParaRPr lang="en-US" altLang="en-GB" sz="36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a:t>
            </a: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4</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endParaRPr>
                  <a:latin typeface="Times New Roman" panose="02020603050405020304" charset="0"/>
                  <a:cs typeface="Times New Roman" panose="02020603050405020304" charset="0"/>
                </a:endParaRPr>
              </a:p>
            </p:txBody>
          </p:sp>
        </p:grpSp>
        <p:grpSp>
          <p:nvGrpSpPr>
            <p:cNvPr id="6" name="Group 6"/>
            <p:cNvGrpSpPr/>
            <p:nvPr/>
          </p:nvGrpSpPr>
          <p:grpSpPr>
            <a:xfrm rot="0">
              <a:off x="170293" y="186017"/>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endParaRPr>
                  <a:latin typeface="Times New Roman" panose="02020603050405020304" charset="0"/>
                  <a:cs typeface="Times New Roman" panose="02020603050405020304" charset="0"/>
                </a:endParaRPr>
              </a:p>
            </p:txBody>
          </p:sp>
        </p:grpSp>
      </p:grpSp>
      <p:pic>
        <p:nvPicPr>
          <p:cNvPr id="12" name="Image 0" descr="preencoded.png"/>
          <p:cNvPicPr>
            <a:picLocks noChangeAspect="1"/>
          </p:cNvPicPr>
          <p:nvPr/>
        </p:nvPicPr>
        <p:blipFill>
          <a:blip r:embed="rId1">
            <a:alphaModFix amt="15000"/>
          </a:blip>
          <a:stretch>
            <a:fillRect/>
          </a:stretch>
        </p:blipFill>
        <p:spPr>
          <a:xfrm>
            <a:off x="13578840" y="685800"/>
            <a:ext cx="4114800" cy="4114800"/>
          </a:xfrm>
          <a:prstGeom prst="rect">
            <a:avLst/>
          </a:prstGeom>
        </p:spPr>
      </p:pic>
      <p:sp>
        <p:nvSpPr>
          <p:cNvPr id="13" name="Text 0"/>
          <p:cNvSpPr/>
          <p:nvPr/>
        </p:nvSpPr>
        <p:spPr>
          <a:xfrm>
            <a:off x="960120" y="754380"/>
            <a:ext cx="10972800" cy="548640"/>
          </a:xfrm>
          <a:prstGeom prst="rect">
            <a:avLst/>
          </a:prstGeom>
          <a:noFill/>
        </p:spPr>
        <p:txBody>
          <a:bodyPr wrap="square" lIns="0" tIns="0" rIns="0" bIns="0" rtlCol="0" anchor="ctr"/>
          <a:lstStyle/>
          <a:p>
            <a:pPr marL="0" indent="0">
              <a:buNone/>
            </a:pPr>
            <a:r>
              <a:rPr lang="en-US" sz="4000" b="1" kern="0" spc="300" dirty="0">
                <a:solidFill>
                  <a:schemeClr val="tx1"/>
                </a:solidFill>
                <a:latin typeface="Times New Roman" panose="02020603050405020304" charset="0"/>
                <a:ea typeface="Calibri" panose="020F0502020204030204" pitchFamily="34" charset="-122"/>
                <a:cs typeface="Times New Roman" panose="02020603050405020304" charset="0"/>
              </a:rPr>
              <a:t>KẾT LUẬN</a:t>
            </a:r>
            <a:endParaRPr lang="en-US" sz="4000" b="1" kern="0" spc="3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4" name="Text 1"/>
          <p:cNvSpPr/>
          <p:nvPr/>
        </p:nvSpPr>
        <p:spPr>
          <a:xfrm>
            <a:off x="960120" y="1261872"/>
            <a:ext cx="13716000" cy="891540"/>
          </a:xfrm>
          <a:prstGeom prst="rect">
            <a:avLst/>
          </a:prstGeom>
          <a:noFill/>
        </p:spPr>
        <p:txBody>
          <a:bodyPr wrap="square" lIns="0" tIns="0" rIns="0" bIns="0" rtlCol="0" anchor="ctr"/>
          <a:lstStyle/>
          <a:p>
            <a:pPr marL="0" indent="0">
              <a:buNone/>
            </a:pPr>
            <a:r>
              <a:rPr lang="en-US" sz="3600" b="1" dirty="0">
                <a:solidFill>
                  <a:schemeClr val="tx1"/>
                </a:solidFill>
                <a:latin typeface="Times New Roman" panose="02020603050405020304" charset="0"/>
                <a:ea typeface="Cambria" panose="02040503050406030204" pitchFamily="34" charset="-122"/>
                <a:cs typeface="Times New Roman" panose="02020603050405020304" charset="0"/>
              </a:rPr>
              <a:t>Kết quả nghiên cứu </a:t>
            </a:r>
            <a:r>
              <a:rPr lang="vi-VN" altLang="en-US" sz="3600" b="1" dirty="0">
                <a:solidFill>
                  <a:schemeClr val="tx1"/>
                </a:solidFill>
                <a:latin typeface="Times New Roman" panose="02020603050405020304" charset="0"/>
                <a:ea typeface="Cambria" panose="02040503050406030204" pitchFamily="34" charset="-122"/>
                <a:cs typeface="Times New Roman" panose="02020603050405020304" charset="0"/>
              </a:rPr>
              <a:t>và</a:t>
            </a:r>
            <a:r>
              <a:rPr lang="en-US" sz="3600" b="1" dirty="0">
                <a:solidFill>
                  <a:schemeClr val="tx1"/>
                </a:solidFill>
                <a:latin typeface="Times New Roman" panose="02020603050405020304" charset="0"/>
                <a:ea typeface="Cambria" panose="02040503050406030204" pitchFamily="34" charset="-122"/>
                <a:cs typeface="Times New Roman" panose="02020603050405020304" charset="0"/>
              </a:rPr>
              <a:t> hướng phát triển</a:t>
            </a:r>
            <a:endParaRPr lang="en-US" sz="36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15" name="Shape 2"/>
          <p:cNvSpPr/>
          <p:nvPr/>
        </p:nvSpPr>
        <p:spPr>
          <a:xfrm>
            <a:off x="838200" y="2476500"/>
            <a:ext cx="8023860" cy="2880360"/>
          </a:xfrm>
          <a:prstGeom prst="roundRect">
            <a:avLst>
              <a:gd name="adj" fmla="val 4286"/>
            </a:avLst>
          </a:prstGeom>
          <a:solidFill>
            <a:srgbClr val="6B1620"/>
          </a:solidFill>
          <a:ln w="9525">
            <a:solidFill>
              <a:srgbClr val="8B2D38"/>
            </a:solidFill>
            <a:prstDash val="solid"/>
          </a:ln>
        </p:spPr>
      </p:sp>
      <p:sp>
        <p:nvSpPr>
          <p:cNvPr id="16" name="Shape 3"/>
          <p:cNvSpPr/>
          <p:nvPr/>
        </p:nvSpPr>
        <p:spPr>
          <a:xfrm>
            <a:off x="1222883" y="2623693"/>
            <a:ext cx="754380" cy="754380"/>
          </a:xfrm>
          <a:prstGeom prst="ellipse">
            <a:avLst/>
          </a:prstGeom>
          <a:solidFill>
            <a:srgbClr val="8B1E2D"/>
          </a:solidFill>
        </p:spPr>
      </p:sp>
      <p:pic>
        <p:nvPicPr>
          <p:cNvPr id="17" name="Image 1" descr="preencoded.png"/>
          <p:cNvPicPr>
            <a:picLocks noChangeAspect="1"/>
          </p:cNvPicPr>
          <p:nvPr/>
        </p:nvPicPr>
        <p:blipFill>
          <a:blip r:embed="rId2"/>
          <a:stretch>
            <a:fillRect/>
          </a:stretch>
        </p:blipFill>
        <p:spPr>
          <a:xfrm>
            <a:off x="1392619" y="2793429"/>
            <a:ext cx="414909" cy="414909"/>
          </a:xfrm>
          <a:prstGeom prst="rect">
            <a:avLst/>
          </a:prstGeom>
        </p:spPr>
      </p:pic>
      <p:sp>
        <p:nvSpPr>
          <p:cNvPr id="18" name="Text 4"/>
          <p:cNvSpPr/>
          <p:nvPr/>
        </p:nvSpPr>
        <p:spPr>
          <a:xfrm>
            <a:off x="2133600" y="2854452"/>
            <a:ext cx="6240780" cy="891540"/>
          </a:xfrm>
          <a:prstGeom prst="rect">
            <a:avLst/>
          </a:prstGeom>
          <a:noFill/>
        </p:spPr>
        <p:txBody>
          <a:bodyPr wrap="square" lIns="0" tIns="0" rIns="0" bIns="0" rtlCol="0" anchor="t"/>
          <a:lstStyle/>
          <a:p>
            <a:pPr marL="0" indent="0">
              <a:lnSpc>
                <a:spcPts val="1700"/>
              </a:lnSpc>
              <a:buNone/>
            </a:pPr>
            <a:r>
              <a:rPr lang="en-US" sz="2600" b="1" dirty="0">
                <a:solidFill>
                  <a:srgbClr val="FFFFFF"/>
                </a:solidFill>
                <a:latin typeface="Times New Roman" panose="02020603050405020304" charset="0"/>
                <a:ea typeface="Calibri" panose="020F0502020204030204" pitchFamily="34" charset="-122"/>
                <a:cs typeface="Times New Roman" panose="02020603050405020304" charset="0"/>
              </a:rPr>
              <a:t>EDA xác thực các yếu tố ảnh hưởng</a:t>
            </a:r>
            <a:endParaRPr lang="en-US" sz="2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9" name="Text 5"/>
          <p:cNvSpPr/>
          <p:nvPr/>
        </p:nvSpPr>
        <p:spPr>
          <a:xfrm>
            <a:off x="1239520" y="3466465"/>
            <a:ext cx="7197090" cy="1371600"/>
          </a:xfrm>
          <a:prstGeom prst="rect">
            <a:avLst/>
          </a:prstGeom>
          <a:noFill/>
        </p:spPr>
        <p:txBody>
          <a:bodyPr wrap="square" lIns="0" tIns="0" rIns="0" bIns="0" rtlCol="0" anchor="ctr"/>
          <a:lstStyle/>
          <a:p>
            <a:pPr marL="0" indent="0" algn="just">
              <a:lnSpc>
                <a:spcPct val="120000"/>
              </a:lnSpc>
              <a:spcBef>
                <a:spcPts val="0"/>
              </a:spcBef>
              <a:spcAft>
                <a:spcPts val="0"/>
              </a:spcAft>
              <a:buNone/>
            </a:pP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Thời gian, thời tiết, tầm nh</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ì</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 và vị tr</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í</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ịa l</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ý</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 c</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ó</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 ảnh h</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ư</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ởng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á</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ng kể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ến mức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ộ nghi</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ê</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m trọng của tai nạn giao thông.</a:t>
            </a:r>
            <a:endPar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endParaRPr>
          </a:p>
        </p:txBody>
      </p:sp>
      <p:sp>
        <p:nvSpPr>
          <p:cNvPr id="20" name="Shape 6"/>
          <p:cNvSpPr/>
          <p:nvPr/>
        </p:nvSpPr>
        <p:spPr>
          <a:xfrm>
            <a:off x="9410700" y="2476500"/>
            <a:ext cx="8023860" cy="2880360"/>
          </a:xfrm>
          <a:prstGeom prst="roundRect">
            <a:avLst>
              <a:gd name="adj" fmla="val 4286"/>
            </a:avLst>
          </a:prstGeom>
          <a:solidFill>
            <a:srgbClr val="6B1620"/>
          </a:solidFill>
          <a:ln w="9525">
            <a:solidFill>
              <a:srgbClr val="8B2D38"/>
            </a:solidFill>
            <a:prstDash val="solid"/>
          </a:ln>
        </p:spPr>
      </p:sp>
      <p:sp>
        <p:nvSpPr>
          <p:cNvPr id="21" name="Shape 7"/>
          <p:cNvSpPr/>
          <p:nvPr/>
        </p:nvSpPr>
        <p:spPr>
          <a:xfrm>
            <a:off x="9794748" y="2685288"/>
            <a:ext cx="754380" cy="754380"/>
          </a:xfrm>
          <a:prstGeom prst="ellipse">
            <a:avLst/>
          </a:prstGeom>
          <a:solidFill>
            <a:srgbClr val="8B1E2D"/>
          </a:solidFill>
        </p:spPr>
      </p:sp>
      <p:pic>
        <p:nvPicPr>
          <p:cNvPr id="22" name="Image 2" descr="preencoded.png"/>
          <p:cNvPicPr>
            <a:picLocks noChangeAspect="1"/>
          </p:cNvPicPr>
          <p:nvPr/>
        </p:nvPicPr>
        <p:blipFill>
          <a:blip r:embed="rId3"/>
          <a:stretch>
            <a:fillRect/>
          </a:stretch>
        </p:blipFill>
        <p:spPr>
          <a:xfrm>
            <a:off x="9964484" y="2855024"/>
            <a:ext cx="414909" cy="414909"/>
          </a:xfrm>
          <a:prstGeom prst="rect">
            <a:avLst/>
          </a:prstGeom>
        </p:spPr>
      </p:pic>
      <p:sp>
        <p:nvSpPr>
          <p:cNvPr id="23" name="Text 8"/>
          <p:cNvSpPr/>
          <p:nvPr/>
        </p:nvSpPr>
        <p:spPr>
          <a:xfrm>
            <a:off x="10744200" y="2857627"/>
            <a:ext cx="6240780" cy="891540"/>
          </a:xfrm>
          <a:prstGeom prst="rect">
            <a:avLst/>
          </a:prstGeom>
          <a:noFill/>
        </p:spPr>
        <p:txBody>
          <a:bodyPr wrap="square" lIns="0" tIns="0" rIns="0" bIns="0" rtlCol="0" anchor="t"/>
          <a:lstStyle/>
          <a:p>
            <a:pPr marL="0" indent="0">
              <a:lnSpc>
                <a:spcPts val="1700"/>
              </a:lnSpc>
              <a:buNone/>
            </a:pPr>
            <a:r>
              <a:rPr lang="en-US" sz="2600" b="1" dirty="0">
                <a:solidFill>
                  <a:srgbClr val="FFFFFF"/>
                </a:solidFill>
                <a:latin typeface="Times New Roman" panose="02020603050405020304" charset="0"/>
                <a:ea typeface="Calibri" panose="020F0502020204030204" pitchFamily="34" charset="-122"/>
                <a:cs typeface="Times New Roman" panose="02020603050405020304" charset="0"/>
              </a:rPr>
              <a:t>Random Forest đạt 79,54% Accuracy</a:t>
            </a:r>
            <a:endParaRPr lang="en-US" sz="2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4" name="Text 9"/>
          <p:cNvSpPr/>
          <p:nvPr/>
        </p:nvSpPr>
        <p:spPr>
          <a:xfrm>
            <a:off x="9753473" y="3502025"/>
            <a:ext cx="7255764" cy="1371600"/>
          </a:xfrm>
          <a:prstGeom prst="rect">
            <a:avLst/>
          </a:prstGeom>
          <a:noFill/>
        </p:spPr>
        <p:txBody>
          <a:bodyPr wrap="square" lIns="0" tIns="0" rIns="0" bIns="0" rtlCol="0" anchor="ctr"/>
          <a:lstStyle/>
          <a:p>
            <a:pPr marL="0" indent="0" algn="just">
              <a:lnSpc>
                <a:spcPct val="120000"/>
              </a:lnSpc>
              <a:spcBef>
                <a:spcPts val="0"/>
              </a:spcBef>
              <a:spcAft>
                <a:spcPts val="0"/>
              </a:spcAft>
              <a:buNone/>
            </a:pP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Mô h</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ì</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nh dự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o</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á</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 mức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ộ nghi</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ê</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m trọng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ạt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ộ ch</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í</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nh x</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á</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c 79,54%, cho thấy khả n</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ă</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ng dự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o</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á</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 t</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ư</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ơ</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ng </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đ</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ối tốt tr</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ê</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 tập dữ liệu nghi</a:t>
            </a:r>
            <a:r>
              <a:rPr lang="en-US" altLang="en-US" sz="2600" dirty="0">
                <a:solidFill>
                  <a:srgbClr val="E8C9CE"/>
                </a:solidFill>
                <a:latin typeface="Times New Roman" panose="02020603050405020304" charset="0"/>
                <a:ea typeface="Calibri" panose="020F0502020204030204" pitchFamily="34" charset="-122"/>
                <a:cs typeface="Times New Roman" panose="02020603050405020304" charset="0"/>
              </a:rPr>
              <a:t>ê</a:t>
            </a:r>
            <a:r>
              <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rPr>
              <a:t>n cứu.</a:t>
            </a:r>
            <a:endParaRPr lang="en-US" altLang="en-GB" sz="2600" dirty="0">
              <a:solidFill>
                <a:srgbClr val="E8C9CE"/>
              </a:solidFill>
              <a:latin typeface="Times New Roman" panose="02020603050405020304" charset="0"/>
              <a:ea typeface="Calibri" panose="020F0502020204030204" pitchFamily="34" charset="-122"/>
              <a:cs typeface="Times New Roman" panose="02020603050405020304" charset="0"/>
            </a:endParaRPr>
          </a:p>
        </p:txBody>
      </p:sp>
      <p:sp>
        <p:nvSpPr>
          <p:cNvPr id="25" name="Shape 10"/>
          <p:cNvSpPr/>
          <p:nvPr/>
        </p:nvSpPr>
        <p:spPr>
          <a:xfrm>
            <a:off x="838200" y="5768340"/>
            <a:ext cx="8023860" cy="2880360"/>
          </a:xfrm>
          <a:prstGeom prst="roundRect">
            <a:avLst>
              <a:gd name="adj" fmla="val 4286"/>
            </a:avLst>
          </a:prstGeom>
          <a:solidFill>
            <a:srgbClr val="6B1620"/>
          </a:solidFill>
          <a:ln w="9525">
            <a:solidFill>
              <a:srgbClr val="8B2D38"/>
            </a:solidFill>
            <a:prstDash val="solid"/>
          </a:ln>
        </p:spPr>
      </p:sp>
      <p:sp>
        <p:nvSpPr>
          <p:cNvPr id="26" name="Shape 11"/>
          <p:cNvSpPr/>
          <p:nvPr/>
        </p:nvSpPr>
        <p:spPr>
          <a:xfrm>
            <a:off x="1222248" y="5888228"/>
            <a:ext cx="754380" cy="754380"/>
          </a:xfrm>
          <a:prstGeom prst="ellipse">
            <a:avLst/>
          </a:prstGeom>
          <a:solidFill>
            <a:srgbClr val="8B1E2D"/>
          </a:solidFill>
        </p:spPr>
      </p:sp>
      <p:pic>
        <p:nvPicPr>
          <p:cNvPr id="27" name="Image 3" descr="preencoded.png"/>
          <p:cNvPicPr>
            <a:picLocks noChangeAspect="1"/>
          </p:cNvPicPr>
          <p:nvPr/>
        </p:nvPicPr>
        <p:blipFill>
          <a:blip r:embed="rId4"/>
          <a:stretch>
            <a:fillRect/>
          </a:stretch>
        </p:blipFill>
        <p:spPr>
          <a:xfrm>
            <a:off x="1391984" y="6057964"/>
            <a:ext cx="414909" cy="414909"/>
          </a:xfrm>
          <a:prstGeom prst="rect">
            <a:avLst/>
          </a:prstGeom>
        </p:spPr>
      </p:pic>
      <p:sp>
        <p:nvSpPr>
          <p:cNvPr id="28" name="Text 12"/>
          <p:cNvSpPr/>
          <p:nvPr/>
        </p:nvSpPr>
        <p:spPr>
          <a:xfrm>
            <a:off x="2072005" y="6113145"/>
            <a:ext cx="6302375" cy="760095"/>
          </a:xfrm>
          <a:prstGeom prst="rect">
            <a:avLst/>
          </a:prstGeom>
          <a:noFill/>
        </p:spPr>
        <p:txBody>
          <a:bodyPr wrap="square" lIns="0" tIns="0" rIns="0" bIns="0" rtlCol="0" anchor="t"/>
          <a:lstStyle/>
          <a:p>
            <a:pPr marL="0" indent="0">
              <a:lnSpc>
                <a:spcPts val="1700"/>
              </a:lnSpc>
              <a:buNone/>
            </a:pPr>
            <a:r>
              <a:rPr lang="en-US" sz="2600" b="1" dirty="0">
                <a:solidFill>
                  <a:srgbClr val="FFFFFF"/>
                </a:solidFill>
                <a:latin typeface="Times New Roman" panose="02020603050405020304" charset="0"/>
                <a:ea typeface="Calibri" panose="020F0502020204030204" pitchFamily="34" charset="-122"/>
                <a:cs typeface="Times New Roman" panose="02020603050405020304" charset="0"/>
              </a:rPr>
              <a:t>K-Means phân nhóm hiệu quả</a:t>
            </a:r>
            <a:endParaRPr lang="en-US" sz="2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9" name="Text 13"/>
          <p:cNvSpPr/>
          <p:nvPr/>
        </p:nvSpPr>
        <p:spPr>
          <a:xfrm>
            <a:off x="1222248" y="6819900"/>
            <a:ext cx="7255764" cy="1371600"/>
          </a:xfrm>
          <a:prstGeom prst="rect">
            <a:avLst/>
          </a:prstGeom>
          <a:noFill/>
        </p:spPr>
        <p:txBody>
          <a:bodyPr wrap="square" lIns="0" tIns="0" rIns="0" bIns="0" rtlCol="0" anchor="ctr"/>
          <a:lstStyle/>
          <a:p>
            <a:pPr marL="0" indent="0">
              <a:lnSpc>
                <a:spcPct val="120000"/>
              </a:lnSpc>
              <a:spcBef>
                <a:spcPts val="0"/>
              </a:spcBef>
              <a:spcAft>
                <a:spcPts val="0"/>
              </a:spcAft>
              <a:buNone/>
            </a:pPr>
            <a:r>
              <a:rPr lang="en-US" sz="2600" dirty="0">
                <a:solidFill>
                  <a:srgbClr val="E8C9CE"/>
                </a:solidFill>
                <a:latin typeface="Times New Roman" panose="02020603050405020304" charset="0"/>
                <a:ea typeface="Calibri" panose="020F0502020204030204" pitchFamily="34" charset="-122"/>
                <a:cs typeface="Times New Roman" panose="02020603050405020304" charset="0"/>
              </a:rPr>
              <a:t>3 nhóm rủi ro (thấp/trung bình/cao) hỗ trợ nhận diện khu vực nguy cơ cao.</a:t>
            </a:r>
            <a:endParaRPr lang="en-US" sz="2600" dirty="0">
              <a:solidFill>
                <a:srgbClr val="E8C9CE"/>
              </a:solidFill>
              <a:latin typeface="Times New Roman" panose="02020603050405020304" charset="0"/>
              <a:ea typeface="Calibri" panose="020F0502020204030204" pitchFamily="34" charset="-122"/>
              <a:cs typeface="Times New Roman" panose="02020603050405020304" charset="0"/>
            </a:endParaRPr>
          </a:p>
        </p:txBody>
      </p:sp>
      <p:sp>
        <p:nvSpPr>
          <p:cNvPr id="30" name="Shape 14"/>
          <p:cNvSpPr/>
          <p:nvPr/>
        </p:nvSpPr>
        <p:spPr>
          <a:xfrm>
            <a:off x="9410700" y="5768340"/>
            <a:ext cx="8023860" cy="2880360"/>
          </a:xfrm>
          <a:prstGeom prst="roundRect">
            <a:avLst>
              <a:gd name="adj" fmla="val 4286"/>
            </a:avLst>
          </a:prstGeom>
          <a:solidFill>
            <a:srgbClr val="6B1620"/>
          </a:solidFill>
          <a:ln w="9525">
            <a:solidFill>
              <a:srgbClr val="8B2D38"/>
            </a:solidFill>
            <a:prstDash val="solid"/>
          </a:ln>
        </p:spPr>
      </p:sp>
      <p:sp>
        <p:nvSpPr>
          <p:cNvPr id="31" name="Shape 15"/>
          <p:cNvSpPr/>
          <p:nvPr/>
        </p:nvSpPr>
        <p:spPr>
          <a:xfrm>
            <a:off x="9794748" y="5888228"/>
            <a:ext cx="754380" cy="754380"/>
          </a:xfrm>
          <a:prstGeom prst="ellipse">
            <a:avLst/>
          </a:prstGeom>
          <a:solidFill>
            <a:srgbClr val="E08E1D"/>
          </a:solidFill>
        </p:spPr>
      </p:sp>
      <p:pic>
        <p:nvPicPr>
          <p:cNvPr id="32" name="Image 4" descr="preencoded.png"/>
          <p:cNvPicPr>
            <a:picLocks noChangeAspect="1"/>
          </p:cNvPicPr>
          <p:nvPr/>
        </p:nvPicPr>
        <p:blipFill>
          <a:blip r:embed="rId5"/>
          <a:stretch>
            <a:fillRect/>
          </a:stretch>
        </p:blipFill>
        <p:spPr>
          <a:xfrm>
            <a:off x="9964484" y="6057964"/>
            <a:ext cx="414909" cy="414909"/>
          </a:xfrm>
          <a:prstGeom prst="rect">
            <a:avLst/>
          </a:prstGeom>
        </p:spPr>
      </p:pic>
      <p:sp>
        <p:nvSpPr>
          <p:cNvPr id="33" name="Text 16"/>
          <p:cNvSpPr/>
          <p:nvPr/>
        </p:nvSpPr>
        <p:spPr>
          <a:xfrm>
            <a:off x="10782300" y="6058027"/>
            <a:ext cx="6240780" cy="891540"/>
          </a:xfrm>
          <a:prstGeom prst="rect">
            <a:avLst/>
          </a:prstGeom>
          <a:noFill/>
        </p:spPr>
        <p:txBody>
          <a:bodyPr wrap="square" lIns="0" tIns="0" rIns="0" bIns="0" rtlCol="0" anchor="t"/>
          <a:lstStyle/>
          <a:p>
            <a:pPr marL="0" indent="0">
              <a:lnSpc>
                <a:spcPts val="1700"/>
              </a:lnSpc>
              <a:buNone/>
            </a:pPr>
            <a:r>
              <a:rPr lang="en-US" sz="2600" b="1" dirty="0">
                <a:solidFill>
                  <a:srgbClr val="FFFFFF"/>
                </a:solidFill>
                <a:latin typeface="Times New Roman" panose="02020603050405020304" charset="0"/>
                <a:ea typeface="Calibri" panose="020F0502020204030204" pitchFamily="34" charset="-122"/>
                <a:cs typeface="Times New Roman" panose="02020603050405020304" charset="0"/>
              </a:rPr>
              <a:t>Hạn chế &amp; hướng phát triển</a:t>
            </a:r>
            <a:endParaRPr lang="en-US" sz="2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4" name="Text 17"/>
          <p:cNvSpPr/>
          <p:nvPr/>
        </p:nvSpPr>
        <p:spPr>
          <a:xfrm>
            <a:off x="9794748" y="6903720"/>
            <a:ext cx="7255764" cy="1371600"/>
          </a:xfrm>
          <a:prstGeom prst="rect">
            <a:avLst/>
          </a:prstGeom>
          <a:noFill/>
        </p:spPr>
        <p:txBody>
          <a:bodyPr wrap="square" lIns="0" tIns="0" rIns="0" bIns="0" rtlCol="0" anchor="ctr"/>
          <a:lstStyle/>
          <a:p>
            <a:pPr marL="0" indent="0">
              <a:lnSpc>
                <a:spcPct val="120000"/>
              </a:lnSpc>
              <a:spcBef>
                <a:spcPts val="0"/>
              </a:spcBef>
              <a:spcAft>
                <a:spcPts val="0"/>
              </a:spcAft>
              <a:buNone/>
            </a:pPr>
            <a:r>
              <a:rPr lang="en-US" sz="2600" dirty="0">
                <a:solidFill>
                  <a:srgbClr val="E8C9CE"/>
                </a:solidFill>
                <a:latin typeface="Times New Roman" panose="02020603050405020304" charset="0"/>
                <a:ea typeface="Calibri" panose="020F0502020204030204" pitchFamily="34" charset="-122"/>
                <a:cs typeface="Times New Roman" panose="02020603050405020304" charset="0"/>
              </a:rPr>
              <a:t>Dữ liệu mất cân bằng giữa các mức Severity; cần kỹ thuật cân bằng dữ liệu và thử nghiệm thêm mô hình khác.</a:t>
            </a:r>
            <a:endParaRPr lang="en-US" sz="2600" dirty="0">
              <a:solidFill>
                <a:srgbClr val="E8C9CE"/>
              </a:solidFill>
              <a:latin typeface="Times New Roman" panose="02020603050405020304" charset="0"/>
              <a:ea typeface="Calibri" panose="020F0502020204030204" pitchFamily="34" charset="-122"/>
              <a:cs typeface="Times New Roman" panose="02020603050405020304" charset="0"/>
            </a:endParaRPr>
          </a:p>
        </p:txBody>
      </p:sp>
      <p:sp>
        <p:nvSpPr>
          <p:cNvPr id="44" name="Text 12"/>
          <p:cNvSpPr/>
          <p:nvPr/>
        </p:nvSpPr>
        <p:spPr>
          <a:xfrm>
            <a:off x="17487900" y="9669780"/>
            <a:ext cx="617220" cy="480060"/>
          </a:xfrm>
          <a:prstGeom prst="rect">
            <a:avLst/>
          </a:prstGeom>
          <a:noFill/>
        </p:spPr>
        <p:txBody>
          <a:bodyPr wrap="square" lIns="0" tIns="0" rIns="0" bIns="0" rtlCol="0" anchor="ctr"/>
          <a:lstStyle/>
          <a:p>
            <a:pPr marL="0" indent="0" algn="r">
              <a:buNone/>
            </a:pPr>
            <a:r>
              <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rPr>
              <a:t>15</a:t>
            </a:r>
            <a:endParaRPr lang="vi-VN" altLang="en-US" sz="2800" b="1" dirty="0">
              <a:solidFill>
                <a:srgbClr val="8B1E2D"/>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CDBD3"/>
        </a:solidFill>
        <a:effectLst/>
      </p:bgPr>
    </p:bg>
    <p:spTree>
      <p:nvGrpSpPr>
        <p:cNvPr id="1" name=""/>
        <p:cNvGrpSpPr/>
        <p:nvPr/>
      </p:nvGrpSpPr>
      <p:grpSpPr>
        <a:xfrm>
          <a:off x="0" y="0"/>
          <a:ext cx="0" cy="0"/>
          <a:chOff x="0" y="0"/>
          <a:chExt cx="0" cy="0"/>
        </a:xfrm>
      </p:grpSpPr>
      <p:grpSp>
        <p:nvGrpSpPr>
          <p:cNvPr id="2" name="Group 2"/>
          <p:cNvGrpSpPr/>
          <p:nvPr/>
        </p:nvGrpSpPr>
        <p:grpSpPr>
          <a:xfrm rot="0">
            <a:off x="441723" y="379852"/>
            <a:ext cx="17404553" cy="9527296"/>
            <a:chOff x="0" y="0"/>
            <a:chExt cx="23206071" cy="12703061"/>
          </a:xfrm>
        </p:grpSpPr>
        <p:grpSp>
          <p:nvGrpSpPr>
            <p:cNvPr id="3" name="Group 3"/>
            <p:cNvGrpSpPr/>
            <p:nvPr/>
          </p:nvGrpSpPr>
          <p:grpSpPr>
            <a:xfrm rot="0">
              <a:off x="0" y="0"/>
              <a:ext cx="23206071" cy="12703061"/>
              <a:chOff x="0" y="0"/>
              <a:chExt cx="4596479" cy="2516124"/>
            </a:xfrm>
          </p:grpSpPr>
          <p:sp>
            <p:nvSpPr>
              <p:cNvPr id="4" name="Freeform 4"/>
              <p:cNvSpPr/>
              <p:nvPr/>
            </p:nvSpPr>
            <p:spPr>
              <a:xfrm>
                <a:off x="0" y="0"/>
                <a:ext cx="4596479" cy="2516124"/>
              </a:xfrm>
              <a:custGeom>
                <a:avLst/>
                <a:gdLst/>
                <a:ahLst/>
                <a:cxnLst/>
                <a:rect l="l" t="t" r="r" b="b"/>
                <a:pathLst>
                  <a:path w="4596479" h="2516124">
                    <a:moveTo>
                      <a:pt x="4517061" y="0"/>
                    </a:moveTo>
                    <a:lnTo>
                      <a:pt x="79418" y="0"/>
                    </a:lnTo>
                    <a:cubicBezTo>
                      <a:pt x="79418" y="43699"/>
                      <a:pt x="44079" y="79418"/>
                      <a:pt x="0" y="79418"/>
                    </a:cubicBezTo>
                    <a:lnTo>
                      <a:pt x="0" y="2436706"/>
                    </a:lnTo>
                    <a:cubicBezTo>
                      <a:pt x="43699" y="2436706"/>
                      <a:pt x="79418" y="2472045"/>
                      <a:pt x="79418" y="2516124"/>
                    </a:cubicBezTo>
                    <a:lnTo>
                      <a:pt x="4517061" y="2516124"/>
                    </a:lnTo>
                    <a:cubicBezTo>
                      <a:pt x="4517061" y="2472425"/>
                      <a:pt x="4552400" y="2436706"/>
                      <a:pt x="4596479" y="2436706"/>
                    </a:cubicBezTo>
                    <a:lnTo>
                      <a:pt x="4596479" y="79418"/>
                    </a:lnTo>
                    <a:cubicBezTo>
                      <a:pt x="4552780" y="79418"/>
                      <a:pt x="4517061" y="44079"/>
                      <a:pt x="4517061" y="0"/>
                    </a:cubicBezTo>
                    <a:close/>
                  </a:path>
                </a:pathLst>
              </a:custGeom>
              <a:ln w="19050" cap="sq">
                <a:solidFill>
                  <a:srgbClr val="261310"/>
                </a:solidFill>
                <a:prstDash val="solid"/>
                <a:miter/>
              </a:ln>
            </p:spPr>
          </p:sp>
          <p:sp>
            <p:nvSpPr>
              <p:cNvPr id="5" name="TextBox 5"/>
              <p:cNvSpPr txBox="1"/>
              <p:nvPr/>
            </p:nvSpPr>
            <p:spPr>
              <a:xfrm>
                <a:off x="38100" y="-9525"/>
                <a:ext cx="4520279" cy="2487549"/>
              </a:xfrm>
              <a:prstGeom prst="rect">
                <a:avLst/>
              </a:prstGeom>
            </p:spPr>
            <p:txBody>
              <a:bodyPr lIns="50800" tIns="50800" rIns="50800" bIns="50800" rtlCol="0" anchor="ctr"/>
              <a:lstStyle/>
              <a:p>
                <a:pPr algn="ctr">
                  <a:lnSpc>
                    <a:spcPts val="2660"/>
                  </a:lnSpc>
                </a:pPr>
              </a:p>
            </p:txBody>
          </p:sp>
        </p:grpSp>
        <p:grpSp>
          <p:nvGrpSpPr>
            <p:cNvPr id="6" name="Group 6"/>
            <p:cNvGrpSpPr/>
            <p:nvPr/>
          </p:nvGrpSpPr>
          <p:grpSpPr>
            <a:xfrm rot="0">
              <a:off x="170293" y="192716"/>
              <a:ext cx="22836362" cy="12317628"/>
              <a:chOff x="0" y="0"/>
              <a:chExt cx="4596479" cy="2479279"/>
            </a:xfrm>
          </p:grpSpPr>
          <p:sp>
            <p:nvSpPr>
              <p:cNvPr id="7" name="Freeform 7"/>
              <p:cNvSpPr/>
              <p:nvPr/>
            </p:nvSpPr>
            <p:spPr>
              <a:xfrm>
                <a:off x="0" y="0"/>
                <a:ext cx="4596479" cy="2479279"/>
              </a:xfrm>
              <a:custGeom>
                <a:avLst/>
                <a:gdLst/>
                <a:ahLst/>
                <a:cxnLst/>
                <a:rect l="l" t="t" r="r" b="b"/>
                <a:pathLst>
                  <a:path w="4596479" h="2479279">
                    <a:moveTo>
                      <a:pt x="4517061" y="0"/>
                    </a:moveTo>
                    <a:lnTo>
                      <a:pt x="79418" y="0"/>
                    </a:lnTo>
                    <a:cubicBezTo>
                      <a:pt x="79418" y="43699"/>
                      <a:pt x="44079" y="79418"/>
                      <a:pt x="0" y="79418"/>
                    </a:cubicBezTo>
                    <a:lnTo>
                      <a:pt x="0" y="2399861"/>
                    </a:lnTo>
                    <a:cubicBezTo>
                      <a:pt x="43699" y="2399861"/>
                      <a:pt x="79418" y="2435200"/>
                      <a:pt x="79418" y="2479279"/>
                    </a:cubicBezTo>
                    <a:lnTo>
                      <a:pt x="4517061" y="2479279"/>
                    </a:lnTo>
                    <a:cubicBezTo>
                      <a:pt x="4517061" y="2435580"/>
                      <a:pt x="4552400" y="2399861"/>
                      <a:pt x="4596479" y="2399861"/>
                    </a:cubicBezTo>
                    <a:lnTo>
                      <a:pt x="4596479" y="79418"/>
                    </a:lnTo>
                    <a:cubicBezTo>
                      <a:pt x="4552780" y="79418"/>
                      <a:pt x="4517061" y="44079"/>
                      <a:pt x="4517061" y="0"/>
                    </a:cubicBezTo>
                    <a:close/>
                  </a:path>
                </a:pathLst>
              </a:custGeom>
              <a:solidFill>
                <a:srgbClr val="F8F2EC"/>
              </a:solidFill>
            </p:spPr>
          </p:sp>
          <p:sp>
            <p:nvSpPr>
              <p:cNvPr id="8" name="TextBox 8"/>
              <p:cNvSpPr txBox="1"/>
              <p:nvPr/>
            </p:nvSpPr>
            <p:spPr>
              <a:xfrm>
                <a:off x="38100" y="-9525"/>
                <a:ext cx="4520279" cy="2450704"/>
              </a:xfrm>
              <a:prstGeom prst="rect">
                <a:avLst/>
              </a:prstGeom>
            </p:spPr>
            <p:txBody>
              <a:bodyPr lIns="50800" tIns="50800" rIns="50800" bIns="50800" rtlCol="0" anchor="ctr"/>
              <a:lstStyle/>
              <a:p>
                <a:pPr algn="ctr">
                  <a:lnSpc>
                    <a:spcPts val="2660"/>
                  </a:lnSpc>
                </a:pPr>
              </a:p>
            </p:txBody>
          </p:sp>
        </p:grpSp>
      </p:grpSp>
      <p:sp>
        <p:nvSpPr>
          <p:cNvPr id="10" name="TextBox 10"/>
          <p:cNvSpPr txBox="1"/>
          <p:nvPr/>
        </p:nvSpPr>
        <p:spPr>
          <a:xfrm>
            <a:off x="2581910" y="1562100"/>
            <a:ext cx="13609320" cy="1558925"/>
          </a:xfrm>
          <a:prstGeom prst="rect">
            <a:avLst/>
          </a:prstGeom>
        </p:spPr>
        <p:txBody>
          <a:bodyPr lIns="0" tIns="0" rIns="0" bIns="0" rtlCol="0" anchor="t">
            <a:noAutofit/>
          </a:bodyPr>
          <a:lstStyle/>
          <a:p>
            <a:pPr algn="ctr">
              <a:lnSpc>
                <a:spcPts val="13960"/>
              </a:lnSpc>
            </a:pPr>
            <a:r>
              <a:rPr lang="en-US" sz="20000" b="1">
                <a:solidFill>
                  <a:srgbClr val="261310"/>
                </a:solidFill>
                <a:effectLst>
                  <a:outerShdw blurRad="60007" dist="310007" dir="7680000" sy="30000" kx="1300200" algn="ctr" rotWithShape="0">
                    <a:prstClr val="black">
                      <a:alpha val="32000"/>
                    </a:prstClr>
                  </a:outerShdw>
                </a:effectLst>
                <a:latin typeface="Grand Cru S Bold" panose="00000800000000000000"/>
                <a:ea typeface="Grand Cru S Bold" panose="00000800000000000000"/>
                <a:cs typeface="Grand Cru S Bold" panose="00000800000000000000"/>
                <a:sym typeface="Grand Cru S Bold" panose="00000800000000000000"/>
              </a:rPr>
              <a:t>Thank you!</a:t>
            </a:r>
            <a:endParaRPr lang="en-US" sz="20000" b="1">
              <a:solidFill>
                <a:srgbClr val="261310"/>
              </a:solidFill>
              <a:effectLst>
                <a:outerShdw blurRad="60007" dist="310007" dir="7680000" sy="30000" kx="1300200" algn="ctr" rotWithShape="0">
                  <a:prstClr val="black">
                    <a:alpha val="32000"/>
                  </a:prstClr>
                </a:outerShdw>
              </a:effectLst>
              <a:latin typeface="Grand Cru S Bold" panose="00000800000000000000"/>
              <a:ea typeface="Grand Cru S Bold" panose="00000800000000000000"/>
              <a:cs typeface="Grand Cru S Bold" panose="00000800000000000000"/>
              <a:sym typeface="Grand Cru S Bold" panose="00000800000000000000"/>
            </a:endParaRPr>
          </a:p>
        </p:txBody>
      </p:sp>
      <p:sp>
        <p:nvSpPr>
          <p:cNvPr id="11" name="TextBox 11"/>
          <p:cNvSpPr txBox="1"/>
          <p:nvPr/>
        </p:nvSpPr>
        <p:spPr>
          <a:xfrm>
            <a:off x="1752600" y="7658100"/>
            <a:ext cx="15069185" cy="1661795"/>
          </a:xfrm>
          <a:prstGeom prst="rect">
            <a:avLst/>
          </a:prstGeom>
        </p:spPr>
        <p:txBody>
          <a:bodyPr wrap="square" lIns="0" tIns="0" rIns="0" bIns="0" rtlCol="0" anchor="t">
            <a:spAutoFit/>
          </a:bodyPr>
          <a:lstStyle/>
          <a:p>
            <a:pPr algn="ctr">
              <a:lnSpc>
                <a:spcPct val="150000"/>
              </a:lnSpc>
              <a:spcBef>
                <a:spcPct val="0"/>
              </a:spcBef>
            </a:pPr>
            <a:r>
              <a:rPr lang="en-US" sz="3600">
                <a:solidFill>
                  <a:srgbClr val="000000"/>
                </a:solidFill>
                <a:latin typeface="Times New Roman" panose="02020603050405020304" charset="0"/>
                <a:ea typeface="Paytone One" panose="00000500000000000000"/>
                <a:cs typeface="Times New Roman" panose="02020603050405020304" charset="0"/>
                <a:sym typeface="Paytone One" panose="00000500000000000000"/>
              </a:rPr>
              <a:t>Đậu Văn Khánh - K225480106099</a:t>
            </a:r>
            <a:endParaRPr lang="en-US" sz="3600">
              <a:solidFill>
                <a:srgbClr val="000000"/>
              </a:solidFill>
              <a:latin typeface="Times New Roman" panose="02020603050405020304" charset="0"/>
              <a:ea typeface="Paytone One" panose="00000500000000000000"/>
              <a:cs typeface="Times New Roman" panose="02020603050405020304" charset="0"/>
              <a:sym typeface="Paytone One" panose="00000500000000000000"/>
            </a:endParaRPr>
          </a:p>
          <a:p>
            <a:pPr algn="ctr">
              <a:lnSpc>
                <a:spcPct val="150000"/>
              </a:lnSpc>
              <a:spcBef>
                <a:spcPct val="0"/>
              </a:spcBef>
            </a:pPr>
            <a:r>
              <a:rPr lang="vi-VN" altLang="en-US" sz="3600">
                <a:solidFill>
                  <a:srgbClr val="000000"/>
                </a:solidFill>
                <a:latin typeface="Times New Roman" panose="02020603050405020304" charset="0"/>
                <a:ea typeface="Paytone One" panose="00000500000000000000"/>
                <a:cs typeface="Times New Roman" panose="02020603050405020304" charset="0"/>
                <a:sym typeface="Paytone One" panose="00000500000000000000"/>
              </a:rPr>
              <a:t>Môn học: Khoa học dữ liệu - GVHD: TS. Nguyễn Văn Huy</a:t>
            </a:r>
            <a:endParaRPr lang="vi-VN" altLang="en-US" sz="3600">
              <a:solidFill>
                <a:srgbClr val="000000"/>
              </a:solidFill>
              <a:latin typeface="Times New Roman" panose="02020603050405020304" charset="0"/>
              <a:ea typeface="Paytone One" panose="00000500000000000000"/>
              <a:cs typeface="Times New Roman" panose="02020603050405020304" charset="0"/>
              <a:sym typeface="Paytone One" panose="00000500000000000000"/>
            </a:endParaRPr>
          </a:p>
        </p:txBody>
      </p:sp>
      <p:sp>
        <p:nvSpPr>
          <p:cNvPr id="12" name="TextBox 12"/>
          <p:cNvSpPr txBox="1"/>
          <p:nvPr/>
        </p:nvSpPr>
        <p:spPr>
          <a:xfrm>
            <a:off x="1981200" y="4000500"/>
            <a:ext cx="14520545" cy="897255"/>
          </a:xfrm>
          <a:prstGeom prst="rect">
            <a:avLst/>
          </a:prstGeom>
        </p:spPr>
        <p:txBody>
          <a:bodyPr wrap="square" lIns="0" tIns="0" rIns="0" bIns="0" rtlCol="0" anchor="t">
            <a:spAutoFit/>
          </a:bodyPr>
          <a:lstStyle/>
          <a:p>
            <a:pPr algn="just">
              <a:lnSpc>
                <a:spcPts val="7000"/>
              </a:lnSpc>
              <a:spcBef>
                <a:spcPct val="0"/>
              </a:spcBef>
            </a:pPr>
            <a:r>
              <a:rPr lang="en-US" sz="5000">
                <a:solidFill>
                  <a:srgbClr val="261310"/>
                </a:solidFill>
                <a:latin typeface="Times New Roman" panose="02020603050405020304"/>
                <a:ea typeface="Times New Roman" panose="02020603050405020304"/>
                <a:cs typeface="Times New Roman" panose="02020603050405020304"/>
                <a:sym typeface="Times New Roman" panose="02020603050405020304"/>
              </a:rPr>
              <a:t>Em xin cảm ơn thầy đã lắng nghe phần trình bày của em.</a:t>
            </a:r>
            <a:endParaRPr lang="en-US" sz="5000">
              <a:solidFill>
                <a:srgbClr val="26131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p="http://schemas.openxmlformats.org/presentationml/2006/main">
  <p:tag name="KSO_WM_DIAGRAM_VIRTUALLY_FRAME" val="{&quot;height&quot;:529.2,&quot;left&quot;:64.8,&quot;top&quot;:189,&quot;width&quot;:1306.8}"/>
</p:tagLst>
</file>

<file path=ppt/tags/tag2.xml><?xml version="1.0" encoding="utf-8"?>
<p:tagLst xmlns:p="http://schemas.openxmlformats.org/presentationml/2006/main">
  <p:tag name="KSO_WM_DIAGRAM_VIRTUALLY_FRAME" val="{&quot;height&quot;:529.2,&quot;left&quot;:64.8,&quot;top&quot;:189,&quot;width&quot;:1306.8}"/>
</p:tagLst>
</file>

<file path=ppt/tags/tag3.xml><?xml version="1.0" encoding="utf-8"?>
<p:tagLst xmlns:p="http://schemas.openxmlformats.org/presentationml/2006/main">
  <p:tag name="KSO_WM_DIAGRAM_VIRTUALLY_FRAME" val="{&quot;height&quot;:529.2,&quot;left&quot;:64.8,&quot;top&quot;:189,&quot;width&quot;:1306.8}"/>
</p:tagLst>
</file>

<file path=ppt/tags/tag4.xml><?xml version="1.0" encoding="utf-8"?>
<p:tagLst xmlns:p="http://schemas.openxmlformats.org/presentationml/2006/main">
  <p:tag name="KSO_WM_DIAGRAM_VIRTUALLY_FRAME" val="{&quot;height&quot;:529.2,&quot;left&quot;:64.8,&quot;top&quot;:189,&quot;width&quot;:1306.8}"/>
</p:tagLst>
</file>

<file path=ppt/tags/tag5.xml><?xml version="1.0" encoding="utf-8"?>
<p:tagLst xmlns:p="http://schemas.openxmlformats.org/presentationml/2006/main">
  <p:tag name="KSO_WM_DIAGRAM_VIRTUALLY_FRAME" val="{&quot;height&quot;:529.2,&quot;left&quot;:64.8,&quot;top&quot;:189,&quot;width&quot;:1306.8}"/>
</p:tagLst>
</file>

<file path=ppt/tags/tag6.xml><?xml version="1.0" encoding="utf-8"?>
<p:tagLst xmlns:p="http://schemas.openxmlformats.org/presentationml/2006/main">
  <p:tag name="KSO_WM_DIAGRAM_VIRTUALLY_FRAME" val="{&quot;height&quot;:529.2,&quot;left&quot;:64.8,&quot;top&quot;:189,&quot;width&quot;:1306.8}"/>
</p:tagLst>
</file>

<file path=ppt/tags/tag7.xml><?xml version="1.0" encoding="utf-8"?>
<p:tagLst xmlns:p="http://schemas.openxmlformats.org/presentationml/2006/main">
  <p:tag name="KSO_WM_DIAGRAM_VIRTUALLY_FRAME" val="{&quot;height&quot;:529.2,&quot;left&quot;:64.8,&quot;top&quot;:189,&quot;width&quot;:1306.8}"/>
</p:tagLst>
</file>

<file path=ppt/tags/tag8.xml><?xml version="1.0" encoding="utf-8"?>
<p:tagLst xmlns:p="http://schemas.openxmlformats.org/presentationml/2006/main">
  <p:tag name="KSO_WM_DIAGRAM_VIRTUALLY_FRAME" val="{&quot;height&quot;:529.2,&quot;left&quot;:64.8,&quot;top&quot;:189,&quot;width&quot;:1306.8}"/>
</p:tagLst>
</file>

<file path=ppt/tags/tag9.xml><?xml version="1.0" encoding="utf-8"?>
<p:tagLst xmlns:p="http://schemas.openxmlformats.org/presentationml/2006/main">
  <p:tag name="KSO_WM_DIAGRAM_VIRTUALLY_FRAME" val="{&quot;height&quot;:529.2,&quot;left&quot;:64.8,&quot;top&quot;:189,&quot;width&quot;:1306.8}"/>
</p:tagLst>
</file>

<file path=ppt/tags/tag10.xml><?xml version="1.0" encoding="utf-8"?>
<p:tagLst xmlns:p="http://schemas.openxmlformats.org/presentationml/2006/main">
  <p:tag name="KSO_WM_DIAGRAM_VIRTUALLY_FRAME" val="{&quot;height&quot;:529.2,&quot;left&quot;:64.8,&quot;top&quot;:189,&quot;width&quot;:1306.8}"/>
</p:tagLst>
</file>

<file path=ppt/tags/tag11.xml><?xml version="1.0" encoding="utf-8"?>
<p:tagLst xmlns:p="http://schemas.openxmlformats.org/presentationml/2006/main">
  <p:tag name="KSO_WM_DIAGRAM_VIRTUALLY_FRAME" val="{&quot;height&quot;:413.01000000000005,&quot;left&quot;:888,&quot;top&quot;:254.45,&quot;width&quot;:459.6}"/>
</p:tagLst>
</file>

<file path=ppt/tags/tag12.xml><?xml version="1.0" encoding="utf-8"?>
<p:tagLst xmlns:p="http://schemas.openxmlformats.org/presentationml/2006/main">
  <p:tag name="KSO_WM_DIAGRAM_VIRTUALLY_FRAME" val="{&quot;height&quot;:413.01000000000005,&quot;left&quot;:888,&quot;top&quot;:254.45,&quot;width&quot;:459.6}"/>
</p:tagLst>
</file>

<file path=ppt/tags/tag13.xml><?xml version="1.0" encoding="utf-8"?>
<p:tagLst xmlns:p="http://schemas.openxmlformats.org/presentationml/2006/main">
  <p:tag name="KSO_WM_DIAGRAM_VIRTUALLY_FRAME" val="{&quot;height&quot;:413.01000000000005,&quot;left&quot;:888,&quot;top&quot;:254.45,&quot;width&quot;:459.6}"/>
</p:tagLst>
</file>

<file path=ppt/tags/tag14.xml><?xml version="1.0" encoding="utf-8"?>
<p:tagLst xmlns:p="http://schemas.openxmlformats.org/presentationml/2006/main">
  <p:tag name="KSO_WM_DIAGRAM_VIRTUALLY_FRAME" val="{&quot;height&quot;:413.01000000000005,&quot;left&quot;:888,&quot;top&quot;:254.45,&quot;width&quot;:459.6}"/>
</p:tagLst>
</file>

<file path=ppt/tags/tag15.xml><?xml version="1.0" encoding="utf-8"?>
<p:tagLst xmlns:p="http://schemas.openxmlformats.org/presentationml/2006/main">
  <p:tag name="KSO_WM_DIAGRAM_VIRTUALLY_FRAME" val="{&quot;height&quot;:413.01000000000005,&quot;left&quot;:888,&quot;top&quot;:254.45,&quot;width&quot;:459.6}"/>
</p:tagLst>
</file>

<file path=ppt/tags/tag16.xml><?xml version="1.0" encoding="utf-8"?>
<p:tagLst xmlns:p="http://schemas.openxmlformats.org/presentationml/2006/main">
  <p:tag name="KSO_WM_DIAGRAM_VIRTUALLY_FRAME" val="{&quot;height&quot;:413.01000000000005,&quot;left&quot;:888,&quot;top&quot;:254.45,&quot;width&quot;:459.6}"/>
</p:tagLst>
</file>

<file path=ppt/tags/tag17.xml><?xml version="1.0" encoding="utf-8"?>
<p:tagLst xmlns:p="http://schemas.openxmlformats.org/presentationml/2006/main">
  <p:tag name="KSO_WM_DIAGRAM_VIRTUALLY_FRAME" val="{&quot;height&quot;:413.01000000000005,&quot;left&quot;:888,&quot;top&quot;:254.45,&quot;width&quot;:459.6}"/>
</p:tagLst>
</file>

<file path=ppt/tags/tag18.xml><?xml version="1.0" encoding="utf-8"?>
<p:tagLst xmlns:p="http://schemas.openxmlformats.org/presentationml/2006/main">
  <p:tag name="KSO_WM_DIAGRAM_VIRTUALLY_FRAME" val="{&quot;height&quot;:413.01000000000005,&quot;left&quot;:888,&quot;top&quot;:254.45,&quot;width&quot;:459.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7516</Words>
  <Application>WPS Presentation</Application>
  <PresentationFormat>On-screen Show (4:3)</PresentationFormat>
  <Paragraphs>342</Paragraphs>
  <Slides>16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16</vt:i4>
      </vt:variant>
    </vt:vector>
  </HeadingPairs>
  <TitlesOfParts>
    <vt:vector size="32" baseType="lpstr">
      <vt:lpstr>Arial</vt:lpstr>
      <vt:lpstr>SimSun</vt:lpstr>
      <vt:lpstr>Wingdings</vt:lpstr>
      <vt:lpstr>Times New Roman</vt:lpstr>
      <vt:lpstr>Barber Complete</vt:lpstr>
      <vt:lpstr>Segoe Print</vt:lpstr>
      <vt:lpstr>Times New Roman Bold</vt:lpstr>
      <vt:lpstr>Calibri</vt:lpstr>
      <vt:lpstr>Cambria</vt:lpstr>
      <vt:lpstr>Times New Roman</vt:lpstr>
      <vt:lpstr>Arial</vt:lpstr>
      <vt:lpstr>Grand Cru S Bold</vt:lpstr>
      <vt:lpstr>Paytone One</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KHOA HỌC DỮ LIỆU</dc:title>
  <dc:creator/>
  <cp:lastModifiedBy>Khánh Đậu Văn</cp:lastModifiedBy>
  <cp:revision>34</cp:revision>
  <dcterms:created xsi:type="dcterms:W3CDTF">2006-08-16T00:00:00Z</dcterms:created>
  <dcterms:modified xsi:type="dcterms:W3CDTF">2026-06-20T16:21:13Z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A22CE49F4A2F413781102A035F39858B_12</vt:lpwstr>
  </property>
  <property fmtid="{D5CDD505-2E9C-101B-9397-08002B2CF9AE}" pid="3" name="KSOProductBuildVer">
    <vt:lpwstr>2057-12.2.0.23203</vt:lpwstr>
  </property>
</Properties>
</file>